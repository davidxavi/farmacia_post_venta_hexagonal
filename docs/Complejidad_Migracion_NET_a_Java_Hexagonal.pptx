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0" d="100"/>
          <a:sy n="90" d="100"/>
        </p:scale>
        <p:origin x="37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91695" cy="68580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Rectangle 3"/>
          <p:cNvSpPr/>
          <p:nvPr/>
        </p:nvSpPr>
        <p:spPr>
          <a:xfrm>
            <a:off x="0" y="5989320"/>
            <a:ext cx="12191695" cy="548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p:cNvSpPr txBox="1"/>
          <p:nvPr/>
        </p:nvSpPr>
        <p:spPr>
          <a:xfrm>
            <a:off x="822960" y="1417320"/>
            <a:ext cx="7315200" cy="365760"/>
          </a:xfrm>
          <a:prstGeom prst="rect">
            <a:avLst/>
          </a:prstGeom>
          <a:noFill/>
        </p:spPr>
        <p:txBody>
          <a:bodyPr wrap="square" lIns="0" tIns="0" rIns="0" bIns="0" anchor="t">
            <a:spAutoFit/>
          </a:bodyPr>
          <a:lstStyle/>
          <a:p>
            <a:pPr algn="l">
              <a:lnSpc>
                <a:spcPct val="115000"/>
              </a:lnSpc>
            </a:pPr>
            <a:r>
              <a:rPr sz="1500" b="1" i="0" dirty="0">
                <a:solidFill>
                  <a:srgbClr val="B8C2CC"/>
                </a:solidFill>
                <a:latin typeface="Calibri"/>
              </a:rPr>
              <a:t>SISTEMA POS FARMACIA</a:t>
            </a:r>
          </a:p>
        </p:txBody>
      </p:sp>
      <p:sp>
        <p:nvSpPr>
          <p:cNvPr id="6" name="TextBox 5"/>
          <p:cNvSpPr txBox="1"/>
          <p:nvPr/>
        </p:nvSpPr>
        <p:spPr>
          <a:xfrm>
            <a:off x="822960" y="1874519"/>
            <a:ext cx="10424160" cy="1920240"/>
          </a:xfrm>
          <a:prstGeom prst="rect">
            <a:avLst/>
          </a:prstGeom>
          <a:noFill/>
        </p:spPr>
        <p:txBody>
          <a:bodyPr wrap="square" lIns="0" tIns="0" rIns="0" bIns="0" anchor="t">
            <a:spAutoFit/>
          </a:bodyPr>
          <a:lstStyle/>
          <a:p>
            <a:pPr algn="l">
              <a:lnSpc>
                <a:spcPct val="108000"/>
              </a:lnSpc>
            </a:pPr>
            <a:r>
              <a:rPr sz="3800" b="1" i="0" dirty="0">
                <a:solidFill>
                  <a:srgbClr val="FFFFFF"/>
                </a:solidFill>
                <a:latin typeface="Calibri"/>
              </a:rPr>
              <a:t>De .NET Onion a Java Hexagonal:</a:t>
            </a:r>
          </a:p>
          <a:p>
            <a:pPr algn="l">
              <a:lnSpc>
                <a:spcPct val="108000"/>
              </a:lnSpc>
            </a:pPr>
            <a:r>
              <a:rPr sz="3800" b="1" i="0" dirty="0">
                <a:solidFill>
                  <a:srgbClr val="FFFFFF"/>
                </a:solidFill>
                <a:latin typeface="Calibri"/>
              </a:rPr>
              <a:t>la </a:t>
            </a:r>
            <a:r>
              <a:rPr sz="3800" b="1" i="0" dirty="0" err="1">
                <a:solidFill>
                  <a:srgbClr val="FFFFFF"/>
                </a:solidFill>
                <a:latin typeface="Calibri"/>
              </a:rPr>
              <a:t>historia</a:t>
            </a:r>
            <a:r>
              <a:rPr sz="3800" b="1" i="0">
                <a:solidFill>
                  <a:srgbClr val="FFFFFF"/>
                </a:solidFill>
                <a:latin typeface="Calibri"/>
              </a:rPr>
              <a:t> real de una migracion</a:t>
            </a:r>
          </a:p>
        </p:txBody>
      </p:sp>
      <p:sp>
        <p:nvSpPr>
          <p:cNvPr id="7" name="TextBox 6"/>
          <p:cNvSpPr txBox="1"/>
          <p:nvPr/>
        </p:nvSpPr>
        <p:spPr>
          <a:xfrm>
            <a:off x="822960" y="3794760"/>
            <a:ext cx="9601200" cy="822960"/>
          </a:xfrm>
          <a:prstGeom prst="rect">
            <a:avLst/>
          </a:prstGeom>
          <a:noFill/>
        </p:spPr>
        <p:txBody>
          <a:bodyPr wrap="square" lIns="0" tIns="0" rIns="0" bIns="0" anchor="t">
            <a:spAutoFit/>
          </a:bodyPr>
          <a:lstStyle/>
          <a:p>
            <a:pPr algn="l">
              <a:lnSpc>
                <a:spcPct val="130000"/>
              </a:lnSpc>
            </a:pPr>
            <a:r>
              <a:rPr sz="1600" b="0" i="0">
                <a:solidFill>
                  <a:srgbClr val="D8DEE4"/>
                </a:solidFill>
                <a:latin typeface="Calibri"/>
              </a:rPr>
              <a:t>Dos ejes de cambio a la vez (lenguaje y arquitectura), un tercero que se dejo quieto</a:t>
            </a:r>
          </a:p>
          <a:p>
            <a:pPr algn="l">
              <a:lnSpc>
                <a:spcPct val="130000"/>
              </a:lnSpc>
            </a:pPr>
            <a:r>
              <a:rPr sz="1600" b="0" i="0">
                <a:solidFill>
                  <a:srgbClr val="D8DEE4"/>
                </a:solidFill>
                <a:latin typeface="Calibri"/>
              </a:rPr>
              <a:t>a proposito (la base de datos) — y las costuras que igual se rompieron primero.</a:t>
            </a:r>
          </a:p>
        </p:txBody>
      </p:sp>
      <p:sp>
        <p:nvSpPr>
          <p:cNvPr id="8" name="Rounded Rectangle 7"/>
          <p:cNvSpPr/>
          <p:nvPr/>
        </p:nvSpPr>
        <p:spPr>
          <a:xfrm>
            <a:off x="822960" y="5074920"/>
            <a:ext cx="2606040" cy="502920"/>
          </a:xfrm>
          <a:prstGeom prst="roundRect">
            <a:avLst>
              <a:gd name="adj" fmla="val 50000"/>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5074920"/>
            <a:ext cx="2606040" cy="502920"/>
          </a:xfrm>
          <a:prstGeom prst="rect">
            <a:avLst/>
          </a:prstGeom>
          <a:noFill/>
        </p:spPr>
        <p:txBody>
          <a:bodyPr wrap="square" lIns="0" tIns="0" rIns="0" bIns="0" anchor="ctr">
            <a:spAutoFit/>
          </a:bodyPr>
          <a:lstStyle/>
          <a:p>
            <a:pPr algn="ctr">
              <a:lnSpc>
                <a:spcPct val="115000"/>
              </a:lnSpc>
            </a:pPr>
            <a:r>
              <a:rPr sz="1300" b="1" i="0">
                <a:solidFill>
                  <a:srgbClr val="FFFFFF"/>
                </a:solidFill>
                <a:latin typeface="Calibri"/>
              </a:rPr>
              <a:t>arquitectura_2_t2</a:t>
            </a:r>
          </a:p>
        </p:txBody>
      </p:sp>
      <p:sp>
        <p:nvSpPr>
          <p:cNvPr id="10" name="TextBox 9"/>
          <p:cNvSpPr txBox="1"/>
          <p:nvPr/>
        </p:nvSpPr>
        <p:spPr>
          <a:xfrm>
            <a:off x="3520440" y="5074920"/>
            <a:ext cx="640080" cy="502920"/>
          </a:xfrm>
          <a:prstGeom prst="rect">
            <a:avLst/>
          </a:prstGeom>
          <a:noFill/>
        </p:spPr>
        <p:txBody>
          <a:bodyPr wrap="square" lIns="0" tIns="0" rIns="0" bIns="0" anchor="ctr">
            <a:spAutoFit/>
          </a:bodyPr>
          <a:lstStyle/>
          <a:p>
            <a:pPr algn="ctr">
              <a:lnSpc>
                <a:spcPct val="115000"/>
              </a:lnSpc>
            </a:pPr>
            <a:r>
              <a:rPr sz="2200" b="1" i="0">
                <a:solidFill>
                  <a:srgbClr val="FFFFFF"/>
                </a:solidFill>
                <a:latin typeface="Calibri"/>
              </a:rPr>
              <a:t>→</a:t>
            </a:r>
          </a:p>
        </p:txBody>
      </p:sp>
      <p:sp>
        <p:nvSpPr>
          <p:cNvPr id="11" name="Rounded Rectangle 10"/>
          <p:cNvSpPr/>
          <p:nvPr/>
        </p:nvSpPr>
        <p:spPr>
          <a:xfrm>
            <a:off x="4160520" y="5074920"/>
            <a:ext cx="260604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60520" y="5074920"/>
            <a:ext cx="2606040" cy="502920"/>
          </a:xfrm>
          <a:prstGeom prst="rect">
            <a:avLst/>
          </a:prstGeom>
          <a:noFill/>
        </p:spPr>
        <p:txBody>
          <a:bodyPr wrap="square" lIns="0" tIns="0" rIns="0" bIns="0" anchor="ctr">
            <a:spAutoFit/>
          </a:bodyPr>
          <a:lstStyle/>
          <a:p>
            <a:pPr algn="ctr">
              <a:lnSpc>
                <a:spcPct val="115000"/>
              </a:lnSpc>
            </a:pPr>
            <a:r>
              <a:rPr sz="1300" b="1" i="0">
                <a:solidFill>
                  <a:srgbClr val="FFFFFF"/>
                </a:solidFill>
                <a:latin typeface="Calibri"/>
              </a:rPr>
              <a:t>arquitecttura_2_t3</a:t>
            </a:r>
          </a:p>
        </p:txBody>
      </p:sp>
      <p:sp>
        <p:nvSpPr>
          <p:cNvPr id="13" name="TextBox 12"/>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14" name="TextBox 13"/>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dirty="0">
                <a:solidFill>
                  <a:srgbClr val="E87A1E"/>
                </a:solidFill>
                <a:latin typeface="Calibri"/>
              </a:rPr>
              <a:t>AGENDA</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dirty="0">
                <a:solidFill>
                  <a:srgbClr val="1F2A37"/>
                </a:solidFill>
                <a:latin typeface="Calibri"/>
              </a:rPr>
              <a:t>De </a:t>
            </a:r>
            <a:r>
              <a:rPr sz="3000" b="1" i="0" dirty="0" err="1">
                <a:solidFill>
                  <a:srgbClr val="1F2A37"/>
                </a:solidFill>
                <a:latin typeface="Calibri"/>
              </a:rPr>
              <a:t>que</a:t>
            </a:r>
            <a:r>
              <a:rPr sz="3000" b="1" i="0" dirty="0">
                <a:solidFill>
                  <a:srgbClr val="1F2A37"/>
                </a:solidFill>
                <a:latin typeface="Calibri"/>
              </a:rPr>
              <a:t> </a:t>
            </a:r>
            <a:r>
              <a:rPr sz="3000" b="1" i="0" dirty="0" err="1">
                <a:solidFill>
                  <a:srgbClr val="1F2A37"/>
                </a:solidFill>
                <a:latin typeface="Calibri"/>
              </a:rPr>
              <a:t>habla</a:t>
            </a:r>
            <a:r>
              <a:rPr sz="3000" b="1" i="0" dirty="0">
                <a:solidFill>
                  <a:srgbClr val="1F2A37"/>
                </a:solidFill>
                <a:latin typeface="Calibri"/>
              </a:rPr>
              <a:t> </a:t>
            </a:r>
            <a:r>
              <a:rPr sz="3000" b="1" i="0" dirty="0" err="1">
                <a:solidFill>
                  <a:srgbClr val="1F2A37"/>
                </a:solidFill>
                <a:latin typeface="Calibri"/>
              </a:rPr>
              <a:t>esta</a:t>
            </a:r>
            <a:r>
              <a:rPr sz="3000" b="1" i="0" dirty="0">
                <a:solidFill>
                  <a:srgbClr val="1F2A37"/>
                </a:solidFill>
                <a:latin typeface="Calibri"/>
              </a:rPr>
              <a:t> </a:t>
            </a:r>
            <a:r>
              <a:rPr sz="3000" b="1" i="0" dirty="0" err="1">
                <a:solidFill>
                  <a:srgbClr val="1F2A37"/>
                </a:solidFill>
                <a:latin typeface="Calibri"/>
              </a:rPr>
              <a:t>charla</a:t>
            </a:r>
            <a:endParaRPr sz="3000" b="1" i="0" dirty="0">
              <a:solidFill>
                <a:srgbClr val="1F2A37"/>
              </a:solidFill>
              <a:latin typeface="Calibri"/>
            </a:endParaRP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965960"/>
            <a:ext cx="10881360" cy="457200"/>
          </a:xfrm>
          <a:prstGeom prst="rect">
            <a:avLst/>
          </a:prstGeom>
          <a:noFill/>
        </p:spPr>
        <p:txBody>
          <a:bodyPr wrap="square" lIns="0" tIns="0" rIns="0" bIns="0">
            <a:spAutoFit/>
          </a:bodyPr>
          <a:lstStyle/>
          <a:p>
            <a:pPr>
              <a:lnSpc>
                <a:spcPct val="118000"/>
              </a:lnSpc>
              <a:spcAft>
                <a:spcPts val="1584"/>
              </a:spcAft>
            </a:pPr>
            <a:r>
              <a:rPr sz="1700" b="1">
                <a:solidFill>
                  <a:srgbClr val="E87A1E"/>
                </a:solidFill>
                <a:latin typeface="Calibri"/>
              </a:rPr>
              <a:t>▸  </a:t>
            </a:r>
            <a:r>
              <a:rPr sz="1700" b="1">
                <a:solidFill>
                  <a:srgbClr val="1F2A37"/>
                </a:solidFill>
                <a:latin typeface="Calibri"/>
              </a:rPr>
              <a:t>El punto de partida. </a:t>
            </a:r>
            <a:r>
              <a:rPr sz="1700" b="0">
                <a:solidFill>
                  <a:srgbClr val="1F2A37"/>
                </a:solidFill>
                <a:latin typeface="Calibri"/>
              </a:rPr>
              <a:t>que tan completo era ya el sistema en .NET antes de tocarlo.</a:t>
            </a:r>
          </a:p>
          <a:p>
            <a:pPr>
              <a:lnSpc>
                <a:spcPct val="118000"/>
              </a:lnSpc>
              <a:spcAft>
                <a:spcPts val="1584"/>
              </a:spcAft>
            </a:pPr>
            <a:r>
              <a:rPr sz="1700" b="1">
                <a:solidFill>
                  <a:srgbClr val="E87A1E"/>
                </a:solidFill>
                <a:latin typeface="Calibri"/>
              </a:rPr>
              <a:t>▸  </a:t>
            </a:r>
            <a:r>
              <a:rPr sz="1700" b="1">
                <a:solidFill>
                  <a:srgbClr val="1F2A37"/>
                </a:solidFill>
                <a:latin typeface="Calibri"/>
              </a:rPr>
              <a:t>El marco: 3 ejes posibles de cambio </a:t>
            </a:r>
            <a:r>
              <a:rPr sz="1700" b="0">
                <a:solidFill>
                  <a:srgbClr val="1F2A37"/>
                </a:solidFill>
                <a:latin typeface="Calibri"/>
              </a:rPr>
              <a:t>(lenguaje, arquitectura, base de datos) y por que solo movimos dos.</a:t>
            </a:r>
          </a:p>
          <a:p>
            <a:pPr>
              <a:lnSpc>
                <a:spcPct val="118000"/>
              </a:lnSpc>
              <a:spcAft>
                <a:spcPts val="1584"/>
              </a:spcAft>
            </a:pPr>
            <a:r>
              <a:rPr sz="1700" b="1">
                <a:solidFill>
                  <a:srgbClr val="E87A1E"/>
                </a:solidFill>
                <a:latin typeface="Calibri"/>
              </a:rPr>
              <a:t>▸  </a:t>
            </a:r>
            <a:r>
              <a:rPr sz="1700" b="1">
                <a:solidFill>
                  <a:srgbClr val="1F2A37"/>
                </a:solidFill>
                <a:latin typeface="Calibri"/>
              </a:rPr>
              <a:t>La friccion esperada </a:t>
            </a:r>
            <a:r>
              <a:rPr sz="1700" b="0">
                <a:solidFill>
                  <a:srgbClr val="1F2A37"/>
                </a:solidFill>
                <a:latin typeface="Calibri"/>
              </a:rPr>
              <a:t>— la que cualquier lista de “cosas dificiles” ya anticipa.</a:t>
            </a:r>
          </a:p>
          <a:p>
            <a:pPr>
              <a:lnSpc>
                <a:spcPct val="118000"/>
              </a:lnSpc>
              <a:spcAft>
                <a:spcPts val="1584"/>
              </a:spcAft>
            </a:pPr>
            <a:r>
              <a:rPr sz="1700" b="1">
                <a:solidFill>
                  <a:srgbClr val="E87A1E"/>
                </a:solidFill>
                <a:latin typeface="Calibri"/>
              </a:rPr>
              <a:t>▸  </a:t>
            </a:r>
            <a:r>
              <a:rPr sz="1700" b="1">
                <a:solidFill>
                  <a:srgbClr val="1F2A37"/>
                </a:solidFill>
                <a:latin typeface="Calibri"/>
              </a:rPr>
              <a:t>Tres casos reales </a:t>
            </a:r>
            <a:r>
              <a:rPr sz="1700" b="0">
                <a:solidFill>
                  <a:srgbClr val="1F2A37"/>
                </a:solidFill>
                <a:latin typeface="Calibri"/>
              </a:rPr>
              <a:t>de bugs que solo aparecieron al correr todo de verdad, no en un test unitario.</a:t>
            </a:r>
          </a:p>
          <a:p>
            <a:pPr>
              <a:lnSpc>
                <a:spcPct val="118000"/>
              </a:lnSpc>
              <a:spcAft>
                <a:spcPts val="1584"/>
              </a:spcAft>
            </a:pPr>
            <a:r>
              <a:rPr sz="1700" b="1">
                <a:solidFill>
                  <a:srgbClr val="E87A1E"/>
                </a:solidFill>
                <a:latin typeface="Calibri"/>
              </a:rPr>
              <a:t>▸  </a:t>
            </a:r>
            <a:r>
              <a:rPr sz="1700" b="1">
                <a:solidFill>
                  <a:srgbClr val="1F2A37"/>
                </a:solidFill>
                <a:latin typeface="Calibri"/>
              </a:rPr>
              <a:t>El eje que no tocamos: </a:t>
            </a:r>
            <a:r>
              <a:rPr sz="1700" b="0">
                <a:solidFill>
                  <a:srgbClr val="1F2A37"/>
                </a:solidFill>
                <a:latin typeface="Calibri"/>
              </a:rPr>
              <a:t>que hubiera costado migrar tambien la base de datos, en concreto.</a:t>
            </a:r>
          </a:p>
          <a:p>
            <a:pPr>
              <a:lnSpc>
                <a:spcPct val="118000"/>
              </a:lnSpc>
              <a:spcAft>
                <a:spcPts val="1584"/>
              </a:spcAft>
            </a:pPr>
            <a:r>
              <a:rPr sz="1700" b="1">
                <a:solidFill>
                  <a:srgbClr val="E87A1E"/>
                </a:solidFill>
                <a:latin typeface="Calibri"/>
              </a:rPr>
              <a:t>▸  </a:t>
            </a:r>
            <a:r>
              <a:rPr sz="1700" b="1">
                <a:solidFill>
                  <a:srgbClr val="1F2A37"/>
                </a:solidFill>
                <a:latin typeface="Calibri"/>
              </a:rPr>
              <a:t>Por que 3 ejes no cuesta el triple </a:t>
            </a:r>
            <a:r>
              <a:rPr sz="1700" b="0">
                <a:solidFill>
                  <a:srgbClr val="1F2A37"/>
                </a:solidFill>
                <a:latin typeface="Calibri"/>
              </a:rPr>
              <a:t>sino mucho mas: las costuras crecen combinatorio.</a:t>
            </a:r>
          </a:p>
          <a:p>
            <a:pPr>
              <a:lnSpc>
                <a:spcPct val="118000"/>
              </a:lnSpc>
              <a:spcAft>
                <a:spcPts val="1584"/>
              </a:spcAft>
            </a:pPr>
            <a:r>
              <a:rPr sz="1700" b="1">
                <a:solidFill>
                  <a:srgbClr val="E87A1E"/>
                </a:solidFill>
                <a:latin typeface="Calibri"/>
              </a:rPr>
              <a:t>▸  </a:t>
            </a:r>
            <a:r>
              <a:rPr sz="1700" b="1">
                <a:solidFill>
                  <a:srgbClr val="1F2A37"/>
                </a:solidFill>
                <a:latin typeface="Calibri"/>
              </a:rPr>
              <a:t>Que decisiones nos blindaron </a:t>
            </a:r>
            <a:r>
              <a:rPr sz="1700" b="0">
                <a:solidFill>
                  <a:srgbClr val="1F2A37"/>
                </a:solidFill>
                <a:latin typeface="Calibri"/>
              </a:rPr>
              <a:t>de antemano, y el cierre.</a:t>
            </a:r>
          </a:p>
        </p:txBody>
      </p:sp>
      <p:sp>
        <p:nvSpPr>
          <p:cNvPr id="7" name="TextBox 6"/>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8" name="TextBox 7"/>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PUNTO DE PARTIDA</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arquitectura_2_t2 no era un prototipo: ya estaba completo</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965960"/>
            <a:ext cx="3429000" cy="17373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965960"/>
            <a:ext cx="53340" cy="173736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2121408"/>
            <a:ext cx="2880360" cy="640080"/>
          </a:xfrm>
          <a:prstGeom prst="rect">
            <a:avLst/>
          </a:prstGeom>
          <a:noFill/>
        </p:spPr>
        <p:txBody>
          <a:bodyPr wrap="square" lIns="0" tIns="0" rIns="0" bIns="0" anchor="t">
            <a:spAutoFit/>
          </a:bodyPr>
          <a:lstStyle/>
          <a:p>
            <a:pPr algn="l">
              <a:lnSpc>
                <a:spcPct val="115000"/>
              </a:lnSpc>
            </a:pPr>
            <a:r>
              <a:rPr sz="4400" b="1" i="0">
                <a:solidFill>
                  <a:srgbClr val="512BD4"/>
                </a:solidFill>
                <a:latin typeface="Calibri"/>
              </a:rPr>
              <a:t>33</a:t>
            </a:r>
          </a:p>
        </p:txBody>
      </p:sp>
      <p:sp>
        <p:nvSpPr>
          <p:cNvPr id="9" name="TextBox 8"/>
          <p:cNvSpPr txBox="1"/>
          <p:nvPr/>
        </p:nvSpPr>
        <p:spPr>
          <a:xfrm>
            <a:off x="822960" y="2761488"/>
            <a:ext cx="2880360" cy="320040"/>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entidades de dominio</a:t>
            </a:r>
          </a:p>
        </p:txBody>
      </p:sp>
      <p:sp>
        <p:nvSpPr>
          <p:cNvPr id="10" name="TextBox 9"/>
          <p:cNvSpPr txBox="1"/>
          <p:nvPr/>
        </p:nvSpPr>
        <p:spPr>
          <a:xfrm>
            <a:off x="822960" y="3108960"/>
            <a:ext cx="2880360" cy="548640"/>
          </a:xfrm>
          <a:prstGeom prst="rect">
            <a:avLst/>
          </a:prstGeom>
          <a:noFill/>
        </p:spPr>
        <p:txBody>
          <a:bodyPr wrap="square" lIns="0" tIns="0" rIns="0" bIns="0" anchor="t">
            <a:spAutoFit/>
          </a:bodyPr>
          <a:lstStyle/>
          <a:p>
            <a:pPr algn="l">
              <a:lnSpc>
                <a:spcPct val="120000"/>
              </a:lnSpc>
            </a:pPr>
            <a:r>
              <a:rPr sz="1150" b="0" i="0">
                <a:solidFill>
                  <a:srgbClr val="667085"/>
                </a:solidFill>
                <a:latin typeface="Calibri"/>
              </a:rPr>
              <a:t>con reglas de negocio ya implementadas y probadas</a:t>
            </a:r>
          </a:p>
        </p:txBody>
      </p:sp>
      <p:sp>
        <p:nvSpPr>
          <p:cNvPr id="11" name="Rounded Rectangle 10"/>
          <p:cNvSpPr/>
          <p:nvPr/>
        </p:nvSpPr>
        <p:spPr>
          <a:xfrm>
            <a:off x="4297680" y="1965960"/>
            <a:ext cx="3429000" cy="17373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97680" y="1965960"/>
            <a:ext cx="53340" cy="173736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0" y="2121408"/>
            <a:ext cx="2880360" cy="640080"/>
          </a:xfrm>
          <a:prstGeom prst="rect">
            <a:avLst/>
          </a:prstGeom>
          <a:noFill/>
        </p:spPr>
        <p:txBody>
          <a:bodyPr wrap="square" lIns="0" tIns="0" rIns="0" bIns="0" anchor="t">
            <a:spAutoFit/>
          </a:bodyPr>
          <a:lstStyle/>
          <a:p>
            <a:pPr algn="l">
              <a:lnSpc>
                <a:spcPct val="115000"/>
              </a:lnSpc>
            </a:pPr>
            <a:r>
              <a:rPr sz="4400" b="1" i="0">
                <a:solidFill>
                  <a:srgbClr val="512BD4"/>
                </a:solidFill>
                <a:latin typeface="Calibri"/>
              </a:rPr>
              <a:t>17</a:t>
            </a:r>
          </a:p>
        </p:txBody>
      </p:sp>
      <p:sp>
        <p:nvSpPr>
          <p:cNvPr id="14" name="TextBox 13"/>
          <p:cNvSpPr txBox="1"/>
          <p:nvPr/>
        </p:nvSpPr>
        <p:spPr>
          <a:xfrm>
            <a:off x="4572000" y="2761488"/>
            <a:ext cx="2880360" cy="320040"/>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controllers REST</a:t>
            </a:r>
          </a:p>
        </p:txBody>
      </p:sp>
      <p:sp>
        <p:nvSpPr>
          <p:cNvPr id="15" name="TextBox 14"/>
          <p:cNvSpPr txBox="1"/>
          <p:nvPr/>
        </p:nvSpPr>
        <p:spPr>
          <a:xfrm>
            <a:off x="4572000" y="3108960"/>
            <a:ext cx="2880360" cy="548640"/>
          </a:xfrm>
          <a:prstGeom prst="rect">
            <a:avLst/>
          </a:prstGeom>
          <a:noFill/>
        </p:spPr>
        <p:txBody>
          <a:bodyPr wrap="square" lIns="0" tIns="0" rIns="0" bIns="0" anchor="t">
            <a:spAutoFit/>
          </a:bodyPr>
          <a:lstStyle/>
          <a:p>
            <a:pPr algn="l">
              <a:lnSpc>
                <a:spcPct val="120000"/>
              </a:lnSpc>
            </a:pPr>
            <a:r>
              <a:rPr sz="1150" b="0" i="0">
                <a:solidFill>
                  <a:srgbClr val="667085"/>
                </a:solidFill>
                <a:latin typeface="Calibri"/>
              </a:rPr>
              <a:t>cubriendo ventas, caja, recetas, seguros, credito, reportes</a:t>
            </a:r>
          </a:p>
        </p:txBody>
      </p:sp>
      <p:sp>
        <p:nvSpPr>
          <p:cNvPr id="16" name="Rounded Rectangle 15"/>
          <p:cNvSpPr/>
          <p:nvPr/>
        </p:nvSpPr>
        <p:spPr>
          <a:xfrm>
            <a:off x="8046720" y="1965960"/>
            <a:ext cx="3429000" cy="17373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046720" y="1965960"/>
            <a:ext cx="53340" cy="173736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21040" y="2121408"/>
            <a:ext cx="2880360" cy="640080"/>
          </a:xfrm>
          <a:prstGeom prst="rect">
            <a:avLst/>
          </a:prstGeom>
          <a:noFill/>
        </p:spPr>
        <p:txBody>
          <a:bodyPr wrap="square" lIns="0" tIns="0" rIns="0" bIns="0" anchor="t">
            <a:spAutoFit/>
          </a:bodyPr>
          <a:lstStyle/>
          <a:p>
            <a:pPr algn="l">
              <a:lnSpc>
                <a:spcPct val="115000"/>
              </a:lnSpc>
            </a:pPr>
            <a:r>
              <a:rPr sz="4400" b="1" i="0">
                <a:solidFill>
                  <a:srgbClr val="512BD4"/>
                </a:solidFill>
                <a:latin typeface="Calibri"/>
              </a:rPr>
              <a:t>44</a:t>
            </a:r>
          </a:p>
        </p:txBody>
      </p:sp>
      <p:sp>
        <p:nvSpPr>
          <p:cNvPr id="19" name="TextBox 18"/>
          <p:cNvSpPr txBox="1"/>
          <p:nvPr/>
        </p:nvSpPr>
        <p:spPr>
          <a:xfrm>
            <a:off x="8321040" y="2761488"/>
            <a:ext cx="2880360" cy="320040"/>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reglas de negocio (RN01-RN44)</a:t>
            </a:r>
          </a:p>
        </p:txBody>
      </p:sp>
      <p:sp>
        <p:nvSpPr>
          <p:cNvPr id="20" name="TextBox 19"/>
          <p:cNvSpPr txBox="1"/>
          <p:nvPr/>
        </p:nvSpPr>
        <p:spPr>
          <a:xfrm>
            <a:off x="8321040" y="3108960"/>
            <a:ext cx="2880360" cy="548640"/>
          </a:xfrm>
          <a:prstGeom prst="rect">
            <a:avLst/>
          </a:prstGeom>
          <a:noFill/>
        </p:spPr>
        <p:txBody>
          <a:bodyPr wrap="square" lIns="0" tIns="0" rIns="0" bIns="0" anchor="t">
            <a:spAutoFit/>
          </a:bodyPr>
          <a:lstStyle/>
          <a:p>
            <a:pPr algn="l">
              <a:lnSpc>
                <a:spcPct val="120000"/>
              </a:lnSpc>
            </a:pPr>
            <a:r>
              <a:rPr sz="1150" b="0" i="0">
                <a:solidFill>
                  <a:srgbClr val="667085"/>
                </a:solidFill>
                <a:latin typeface="Calibri"/>
              </a:rPr>
              <a:t>que habia que preservar exactas, no aproximadas</a:t>
            </a:r>
          </a:p>
        </p:txBody>
      </p:sp>
      <p:sp>
        <p:nvSpPr>
          <p:cNvPr id="21" name="TextBox 20"/>
          <p:cNvSpPr txBox="1"/>
          <p:nvPr/>
        </p:nvSpPr>
        <p:spPr>
          <a:xfrm>
            <a:off x="548640" y="4160520"/>
            <a:ext cx="10881360" cy="457200"/>
          </a:xfrm>
          <a:prstGeom prst="rect">
            <a:avLst/>
          </a:prstGeom>
          <a:noFill/>
        </p:spPr>
        <p:txBody>
          <a:bodyPr wrap="square" lIns="0" tIns="0" rIns="0" bIns="0">
            <a:spAutoFit/>
          </a:bodyPr>
          <a:lstStyle/>
          <a:p>
            <a:pPr>
              <a:lnSpc>
                <a:spcPct val="118000"/>
              </a:lnSpc>
              <a:spcAft>
                <a:spcPts val="1440"/>
              </a:spcAft>
            </a:pPr>
            <a:r>
              <a:rPr sz="1500" b="1">
                <a:solidFill>
                  <a:srgbClr val="E87A1E"/>
                </a:solidFill>
                <a:latin typeface="Calibri"/>
              </a:rPr>
              <a:t>▸  </a:t>
            </a:r>
            <a:r>
              <a:rPr sz="1500" b="1">
                <a:solidFill>
                  <a:srgbClr val="1F2A37"/>
                </a:solidFill>
                <a:latin typeface="Calibri"/>
              </a:rPr>
              <a:t>No se migra un esqueleto: </a:t>
            </a:r>
            <a:r>
              <a:rPr sz="1500" b="0">
                <a:solidFill>
                  <a:srgbClr val="1F2A37"/>
                </a:solidFill>
                <a:latin typeface="Calibri"/>
              </a:rPr>
              <a:t>cada entidad, endpoint y regla del .NET necesitaba un equivalente funcional en Java, no solo la forma.</a:t>
            </a:r>
          </a:p>
          <a:p>
            <a:pPr>
              <a:lnSpc>
                <a:spcPct val="118000"/>
              </a:lnSpc>
              <a:spcAft>
                <a:spcPts val="1440"/>
              </a:spcAft>
            </a:pPr>
            <a:r>
              <a:rPr sz="1500" b="1">
                <a:solidFill>
                  <a:srgbClr val="E87A1E"/>
                </a:solidFill>
                <a:latin typeface="Calibri"/>
              </a:rPr>
              <a:t>▸  </a:t>
            </a:r>
            <a:r>
              <a:rPr sz="1500" b="1">
                <a:solidFill>
                  <a:srgbClr val="1F2A37"/>
                </a:solidFill>
                <a:latin typeface="Calibri"/>
              </a:rPr>
              <a:t>El frontend React se mantiene sin reescribir: </a:t>
            </a:r>
            <a:r>
              <a:rPr sz="1500" b="0">
                <a:solidFill>
                  <a:srgbClr val="1F2A37"/>
                </a:solidFill>
                <a:latin typeface="Calibri"/>
              </a:rPr>
              <a:t>esa es la unica variable que se congelo a proposito para no sumar un cuarto eje de cambio.</a:t>
            </a:r>
          </a:p>
        </p:txBody>
      </p:sp>
      <p:sp>
        <p:nvSpPr>
          <p:cNvPr id="22" name="TextBox 21"/>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3" name="TextBox 22"/>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EL MARCO</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Tres ejes de cambio posibles — y una regla que ya existia</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874519"/>
            <a:ext cx="10881360" cy="10515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74519"/>
            <a:ext cx="53340" cy="10515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002535"/>
            <a:ext cx="5029200" cy="365760"/>
          </a:xfrm>
          <a:prstGeom prst="rect">
            <a:avLst/>
          </a:prstGeom>
          <a:noFill/>
        </p:spPr>
        <p:txBody>
          <a:bodyPr wrap="square" lIns="0" tIns="0" rIns="0" bIns="0" anchor="t">
            <a:spAutoFit/>
          </a:bodyPr>
          <a:lstStyle/>
          <a:p>
            <a:pPr algn="l">
              <a:lnSpc>
                <a:spcPct val="115000"/>
              </a:lnSpc>
            </a:pPr>
            <a:r>
              <a:rPr sz="1700" b="1" i="0">
                <a:solidFill>
                  <a:srgbClr val="1F2A37"/>
                </a:solidFill>
                <a:latin typeface="Calibri"/>
              </a:rPr>
              <a:t>Lenguaje / framework</a:t>
            </a:r>
          </a:p>
        </p:txBody>
      </p:sp>
      <p:sp>
        <p:nvSpPr>
          <p:cNvPr id="9" name="TextBox 8"/>
          <p:cNvSpPr txBox="1"/>
          <p:nvPr/>
        </p:nvSpPr>
        <p:spPr>
          <a:xfrm>
            <a:off x="868680" y="2404871"/>
            <a:ext cx="7315200" cy="365760"/>
          </a:xfrm>
          <a:prstGeom prst="rect">
            <a:avLst/>
          </a:prstGeom>
          <a:noFill/>
        </p:spPr>
        <p:txBody>
          <a:bodyPr wrap="square" lIns="0" tIns="0" rIns="0" bIns="0" anchor="t">
            <a:spAutoFit/>
          </a:bodyPr>
          <a:lstStyle/>
          <a:p>
            <a:pPr algn="l">
              <a:lnSpc>
                <a:spcPct val="115000"/>
              </a:lnSpc>
            </a:pPr>
            <a:r>
              <a:rPr sz="1300" b="0" i="0">
                <a:solidFill>
                  <a:srgbClr val="667085"/>
                </a:solidFill>
                <a:latin typeface="Calibri"/>
              </a:rPr>
              <a:t>C# + .NET 10  →  Java 17 + Spring Boot 4.1</a:t>
            </a:r>
          </a:p>
        </p:txBody>
      </p:sp>
      <p:sp>
        <p:nvSpPr>
          <p:cNvPr id="10" name="Rounded Rectangle 9"/>
          <p:cNvSpPr/>
          <p:nvPr/>
        </p:nvSpPr>
        <p:spPr>
          <a:xfrm>
            <a:off x="9281160" y="2167127"/>
            <a:ext cx="1965960" cy="457200"/>
          </a:xfrm>
          <a:prstGeom prst="roundRect">
            <a:avLst>
              <a:gd name="adj" fmla="val 5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281160" y="2167127"/>
            <a:ext cx="1965960" cy="457200"/>
          </a:xfrm>
          <a:prstGeom prst="rect">
            <a:avLst/>
          </a:prstGeom>
          <a:noFill/>
        </p:spPr>
        <p:txBody>
          <a:bodyPr wrap="square" lIns="0" tIns="0" rIns="0" bIns="0" anchor="ctr">
            <a:spAutoFit/>
          </a:bodyPr>
          <a:lstStyle/>
          <a:p>
            <a:pPr algn="ctr">
              <a:lnSpc>
                <a:spcPct val="115000"/>
              </a:lnSpc>
            </a:pPr>
            <a:r>
              <a:rPr sz="1100" b="1" i="0">
                <a:solidFill>
                  <a:srgbClr val="B46006"/>
                </a:solidFill>
                <a:latin typeface="Calibri"/>
              </a:rPr>
              <a:t>SE MOVIO</a:t>
            </a:r>
          </a:p>
        </p:txBody>
      </p:sp>
      <p:sp>
        <p:nvSpPr>
          <p:cNvPr id="12" name="Rounded Rectangle 11"/>
          <p:cNvSpPr/>
          <p:nvPr/>
        </p:nvSpPr>
        <p:spPr>
          <a:xfrm>
            <a:off x="548640" y="3127247"/>
            <a:ext cx="10881360" cy="10515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3127247"/>
            <a:ext cx="53340" cy="1051560"/>
          </a:xfrm>
          <a:prstGeom prst="rect">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68680" y="3255263"/>
            <a:ext cx="5029200" cy="365760"/>
          </a:xfrm>
          <a:prstGeom prst="rect">
            <a:avLst/>
          </a:prstGeom>
          <a:noFill/>
        </p:spPr>
        <p:txBody>
          <a:bodyPr wrap="square" lIns="0" tIns="0" rIns="0" bIns="0" anchor="t">
            <a:spAutoFit/>
          </a:bodyPr>
          <a:lstStyle/>
          <a:p>
            <a:pPr algn="l">
              <a:lnSpc>
                <a:spcPct val="115000"/>
              </a:lnSpc>
            </a:pPr>
            <a:r>
              <a:rPr sz="1700" b="1" i="0">
                <a:solidFill>
                  <a:srgbClr val="1F2A37"/>
                </a:solidFill>
                <a:latin typeface="Calibri"/>
              </a:rPr>
              <a:t>Arquitectura</a:t>
            </a:r>
          </a:p>
        </p:txBody>
      </p:sp>
      <p:sp>
        <p:nvSpPr>
          <p:cNvPr id="15" name="TextBox 14"/>
          <p:cNvSpPr txBox="1"/>
          <p:nvPr/>
        </p:nvSpPr>
        <p:spPr>
          <a:xfrm>
            <a:off x="868680" y="3657599"/>
            <a:ext cx="7315200" cy="365760"/>
          </a:xfrm>
          <a:prstGeom prst="rect">
            <a:avLst/>
          </a:prstGeom>
          <a:noFill/>
        </p:spPr>
        <p:txBody>
          <a:bodyPr wrap="square" lIns="0" tIns="0" rIns="0" bIns="0" anchor="t">
            <a:spAutoFit/>
          </a:bodyPr>
          <a:lstStyle/>
          <a:p>
            <a:pPr algn="l">
              <a:lnSpc>
                <a:spcPct val="115000"/>
              </a:lnSpc>
            </a:pPr>
            <a:r>
              <a:rPr sz="1300" b="0" i="0">
                <a:solidFill>
                  <a:srgbClr val="667085"/>
                </a:solidFill>
                <a:latin typeface="Calibri"/>
              </a:rPr>
              <a:t>Onion (capas por convencion)  →  Hexagonal (modulos fisicos)</a:t>
            </a:r>
          </a:p>
        </p:txBody>
      </p:sp>
      <p:sp>
        <p:nvSpPr>
          <p:cNvPr id="16" name="Rounded Rectangle 15"/>
          <p:cNvSpPr/>
          <p:nvPr/>
        </p:nvSpPr>
        <p:spPr>
          <a:xfrm>
            <a:off x="9281160" y="3419855"/>
            <a:ext cx="1965960" cy="457200"/>
          </a:xfrm>
          <a:prstGeom prst="roundRect">
            <a:avLst>
              <a:gd name="adj" fmla="val 5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81160" y="3419855"/>
            <a:ext cx="1965960" cy="457200"/>
          </a:xfrm>
          <a:prstGeom prst="rect">
            <a:avLst/>
          </a:prstGeom>
          <a:noFill/>
        </p:spPr>
        <p:txBody>
          <a:bodyPr wrap="square" lIns="0" tIns="0" rIns="0" bIns="0" anchor="ctr">
            <a:spAutoFit/>
          </a:bodyPr>
          <a:lstStyle/>
          <a:p>
            <a:pPr algn="ctr">
              <a:lnSpc>
                <a:spcPct val="115000"/>
              </a:lnSpc>
            </a:pPr>
            <a:r>
              <a:rPr sz="1100" b="1" i="0">
                <a:solidFill>
                  <a:srgbClr val="B46006"/>
                </a:solidFill>
                <a:latin typeface="Calibri"/>
              </a:rPr>
              <a:t>SE MOVIO</a:t>
            </a:r>
          </a:p>
        </p:txBody>
      </p:sp>
      <p:sp>
        <p:nvSpPr>
          <p:cNvPr id="18" name="Rounded Rectangle 17"/>
          <p:cNvSpPr/>
          <p:nvPr/>
        </p:nvSpPr>
        <p:spPr>
          <a:xfrm>
            <a:off x="548640" y="4379975"/>
            <a:ext cx="10881360" cy="10515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48640" y="4379975"/>
            <a:ext cx="53340" cy="1051560"/>
          </a:xfrm>
          <a:prstGeom prst="rect">
            <a:avLst/>
          </a:prstGeom>
          <a:solidFill>
            <a:srgbClr val="667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4507991"/>
            <a:ext cx="5029200" cy="365760"/>
          </a:xfrm>
          <a:prstGeom prst="rect">
            <a:avLst/>
          </a:prstGeom>
          <a:noFill/>
        </p:spPr>
        <p:txBody>
          <a:bodyPr wrap="square" lIns="0" tIns="0" rIns="0" bIns="0" anchor="t">
            <a:spAutoFit/>
          </a:bodyPr>
          <a:lstStyle/>
          <a:p>
            <a:pPr algn="l">
              <a:lnSpc>
                <a:spcPct val="115000"/>
              </a:lnSpc>
            </a:pPr>
            <a:r>
              <a:rPr sz="1700" b="1" i="0">
                <a:solidFill>
                  <a:srgbClr val="1F2A37"/>
                </a:solidFill>
                <a:latin typeface="Calibri"/>
              </a:rPr>
              <a:t>Motor de base de datos</a:t>
            </a:r>
          </a:p>
        </p:txBody>
      </p:sp>
      <p:sp>
        <p:nvSpPr>
          <p:cNvPr id="21" name="TextBox 20"/>
          <p:cNvSpPr txBox="1"/>
          <p:nvPr/>
        </p:nvSpPr>
        <p:spPr>
          <a:xfrm>
            <a:off x="868680" y="4910327"/>
            <a:ext cx="7315200" cy="365760"/>
          </a:xfrm>
          <a:prstGeom prst="rect">
            <a:avLst/>
          </a:prstGeom>
          <a:noFill/>
        </p:spPr>
        <p:txBody>
          <a:bodyPr wrap="square" lIns="0" tIns="0" rIns="0" bIns="0" anchor="t">
            <a:spAutoFit/>
          </a:bodyPr>
          <a:lstStyle/>
          <a:p>
            <a:pPr algn="l">
              <a:lnSpc>
                <a:spcPct val="115000"/>
              </a:lnSpc>
            </a:pPr>
            <a:r>
              <a:rPr sz="1300" b="0" i="0">
                <a:solidFill>
                  <a:srgbClr val="667085"/>
                </a:solidFill>
                <a:latin typeface="Calibri"/>
              </a:rPr>
              <a:t>PostgreSQL 16  →  PostgreSQL 16 (sin cambios)</a:t>
            </a:r>
          </a:p>
        </p:txBody>
      </p:sp>
      <p:sp>
        <p:nvSpPr>
          <p:cNvPr id="22" name="Rounded Rectangle 21"/>
          <p:cNvSpPr/>
          <p:nvPr/>
        </p:nvSpPr>
        <p:spPr>
          <a:xfrm>
            <a:off x="9281160" y="4672583"/>
            <a:ext cx="1965960" cy="457200"/>
          </a:xfrm>
          <a:prstGeom prst="roundRect">
            <a:avLst>
              <a:gd name="adj" fmla="val 50000"/>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81160" y="4672583"/>
            <a:ext cx="1965960" cy="457200"/>
          </a:xfrm>
          <a:prstGeom prst="rect">
            <a:avLst/>
          </a:prstGeom>
          <a:noFill/>
        </p:spPr>
        <p:txBody>
          <a:bodyPr wrap="square" lIns="0" tIns="0" rIns="0" bIns="0" anchor="ctr">
            <a:spAutoFit/>
          </a:bodyPr>
          <a:lstStyle/>
          <a:p>
            <a:pPr algn="ctr">
              <a:lnSpc>
                <a:spcPct val="115000"/>
              </a:lnSpc>
            </a:pPr>
            <a:r>
              <a:rPr sz="1100" b="1" i="0">
                <a:solidFill>
                  <a:srgbClr val="16A34A"/>
                </a:solidFill>
                <a:latin typeface="Calibri"/>
              </a:rPr>
              <a:t>SE DEJO QUIETO</a:t>
            </a:r>
          </a:p>
        </p:txBody>
      </p:sp>
      <p:sp>
        <p:nvSpPr>
          <p:cNvPr id="24" name="Rounded Rectangle 23"/>
          <p:cNvSpPr/>
          <p:nvPr/>
        </p:nvSpPr>
        <p:spPr>
          <a:xfrm>
            <a:off x="548640" y="5440680"/>
            <a:ext cx="10881360" cy="914400"/>
          </a:xfrm>
          <a:prstGeom prst="roundRect">
            <a:avLst>
              <a:gd name="adj" fmla="val 12000"/>
            </a:avLst>
          </a:prstGeom>
          <a:solidFill>
            <a:srgbClr val="F0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5577840"/>
            <a:ext cx="10241280" cy="685800"/>
          </a:xfrm>
          <a:prstGeom prst="rect">
            <a:avLst/>
          </a:prstGeom>
          <a:noFill/>
        </p:spPr>
        <p:txBody>
          <a:bodyPr wrap="square">
            <a:spAutoFit/>
          </a:bodyPr>
          <a:lstStyle/>
          <a:p>
            <a:pPr algn="l">
              <a:lnSpc>
                <a:spcPct val="125000"/>
              </a:lnSpc>
            </a:pPr>
            <a:r>
              <a:rPr sz="1350" b="0" i="1" dirty="0">
                <a:solidFill>
                  <a:srgbClr val="1F2A37"/>
                </a:solidFill>
                <a:latin typeface="Calibri"/>
              </a:rPr>
              <a:t>“</a:t>
            </a:r>
            <a:r>
              <a:rPr sz="1350" b="0" i="1" dirty="0" err="1">
                <a:solidFill>
                  <a:srgbClr val="1F2A37"/>
                </a:solidFill>
                <a:latin typeface="Calibri"/>
              </a:rPr>
              <a:t>Modificar</a:t>
            </a:r>
            <a:r>
              <a:rPr sz="1350" b="0" i="1" dirty="0">
                <a:solidFill>
                  <a:srgbClr val="1F2A37"/>
                </a:solidFill>
                <a:latin typeface="Calibri"/>
              </a:rPr>
              <a:t> </a:t>
            </a:r>
            <a:r>
              <a:rPr sz="1350" b="0" i="1" dirty="0" err="1">
                <a:solidFill>
                  <a:srgbClr val="1F2A37"/>
                </a:solidFill>
                <a:latin typeface="Calibri"/>
              </a:rPr>
              <a:t>simultaneamente</a:t>
            </a:r>
            <a:r>
              <a:rPr sz="1350" b="0" i="1" dirty="0">
                <a:solidFill>
                  <a:srgbClr val="1F2A37"/>
                </a:solidFill>
                <a:latin typeface="Calibri"/>
              </a:rPr>
              <a:t> </a:t>
            </a:r>
            <a:r>
              <a:rPr sz="1350" b="0" i="1" dirty="0" err="1">
                <a:solidFill>
                  <a:srgbClr val="1F2A37"/>
                </a:solidFill>
                <a:latin typeface="Calibri"/>
              </a:rPr>
              <a:t>lenguaje</a:t>
            </a:r>
            <a:r>
              <a:rPr sz="1350" b="0" i="1" dirty="0">
                <a:solidFill>
                  <a:srgbClr val="1F2A37"/>
                </a:solidFill>
                <a:latin typeface="Calibri"/>
              </a:rPr>
              <a:t>, base de </a:t>
            </a:r>
            <a:r>
              <a:rPr sz="1350" b="0" i="1" dirty="0" err="1">
                <a:solidFill>
                  <a:srgbClr val="1F2A37"/>
                </a:solidFill>
                <a:latin typeface="Calibri"/>
              </a:rPr>
              <a:t>datos</a:t>
            </a:r>
            <a:r>
              <a:rPr sz="1350" b="0" i="1" dirty="0">
                <a:solidFill>
                  <a:srgbClr val="1F2A37"/>
                </a:solidFill>
                <a:latin typeface="Calibri"/>
              </a:rPr>
              <a:t> y frontend sin un plan gradual” </a:t>
            </a:r>
            <a:r>
              <a:rPr sz="1350" b="0" i="0" dirty="0" err="1">
                <a:solidFill>
                  <a:srgbClr val="667085"/>
                </a:solidFill>
                <a:latin typeface="Calibri"/>
              </a:rPr>
              <a:t>está</a:t>
            </a:r>
            <a:r>
              <a:rPr sz="1350" b="0" i="0" dirty="0">
                <a:solidFill>
                  <a:srgbClr val="667085"/>
                </a:solidFill>
                <a:latin typeface="Calibri"/>
              </a:rPr>
              <a:t> </a:t>
            </a:r>
            <a:r>
              <a:rPr sz="1350" b="0" i="0" dirty="0" err="1">
                <a:solidFill>
                  <a:srgbClr val="667085"/>
                </a:solidFill>
                <a:latin typeface="Calibri"/>
              </a:rPr>
              <a:t>prohibido</a:t>
            </a:r>
            <a:r>
              <a:rPr sz="1350" b="0" i="0" dirty="0">
                <a:solidFill>
                  <a:srgbClr val="667085"/>
                </a:solidFill>
                <a:latin typeface="Calibri"/>
              </a:rPr>
              <a:t> </a:t>
            </a:r>
            <a:r>
              <a:rPr sz="1350" b="0" i="0" dirty="0" err="1">
                <a:solidFill>
                  <a:srgbClr val="667085"/>
                </a:solidFill>
                <a:latin typeface="Calibri"/>
              </a:rPr>
              <a:t>explicitamente</a:t>
            </a:r>
            <a:r>
              <a:rPr sz="1350" b="0" i="0" dirty="0">
                <a:solidFill>
                  <a:srgbClr val="667085"/>
                </a:solidFill>
                <a:latin typeface="Calibri"/>
              </a:rPr>
              <a:t> </a:t>
            </a:r>
            <a:r>
              <a:rPr sz="1350" b="0" i="0" dirty="0" err="1">
                <a:solidFill>
                  <a:srgbClr val="667085"/>
                </a:solidFill>
                <a:latin typeface="Calibri"/>
              </a:rPr>
              <a:t>en</a:t>
            </a:r>
            <a:r>
              <a:rPr sz="1350" b="0" i="0" dirty="0">
                <a:solidFill>
                  <a:srgbClr val="667085"/>
                </a:solidFill>
                <a:latin typeface="Calibri"/>
              </a:rPr>
              <a:t> las </a:t>
            </a:r>
            <a:r>
              <a:rPr sz="1350" b="0" i="0" dirty="0" err="1">
                <a:solidFill>
                  <a:srgbClr val="667085"/>
                </a:solidFill>
                <a:latin typeface="Calibri"/>
              </a:rPr>
              <a:t>reglas</a:t>
            </a:r>
            <a:r>
              <a:rPr sz="1350" b="0" i="0" dirty="0">
                <a:solidFill>
                  <a:srgbClr val="667085"/>
                </a:solidFill>
                <a:latin typeface="Calibri"/>
              </a:rPr>
              <a:t> de </a:t>
            </a:r>
            <a:r>
              <a:rPr sz="1350" b="0" i="0" dirty="0" err="1">
                <a:solidFill>
                  <a:srgbClr val="667085"/>
                </a:solidFill>
                <a:latin typeface="Calibri"/>
              </a:rPr>
              <a:t>este</a:t>
            </a:r>
            <a:r>
              <a:rPr sz="1350" b="0" i="0" dirty="0">
                <a:solidFill>
                  <a:srgbClr val="667085"/>
                </a:solidFill>
                <a:latin typeface="Calibri"/>
              </a:rPr>
              <a:t> </a:t>
            </a:r>
            <a:r>
              <a:rPr sz="1350" b="0" i="0" dirty="0" err="1">
                <a:solidFill>
                  <a:srgbClr val="667085"/>
                </a:solidFill>
                <a:latin typeface="Calibri"/>
              </a:rPr>
              <a:t>proyecto</a:t>
            </a:r>
            <a:r>
              <a:rPr sz="1350" b="0" i="0" dirty="0">
                <a:solidFill>
                  <a:srgbClr val="667085"/>
                </a:solidFill>
                <a:latin typeface="Calibri"/>
              </a:rPr>
              <a:t> (CLAUDE.md). Esta </a:t>
            </a:r>
            <a:r>
              <a:rPr sz="1350" b="0" i="0" dirty="0" err="1">
                <a:solidFill>
                  <a:srgbClr val="667085"/>
                </a:solidFill>
                <a:latin typeface="Calibri"/>
              </a:rPr>
              <a:t>charla</a:t>
            </a:r>
            <a:r>
              <a:rPr sz="1350" b="0" i="0" dirty="0">
                <a:solidFill>
                  <a:srgbClr val="667085"/>
                </a:solidFill>
                <a:latin typeface="Calibri"/>
              </a:rPr>
              <a:t> es, </a:t>
            </a:r>
            <a:r>
              <a:rPr sz="1350" b="0" i="0" dirty="0" err="1">
                <a:solidFill>
                  <a:srgbClr val="667085"/>
                </a:solidFill>
                <a:latin typeface="Calibri"/>
              </a:rPr>
              <a:t>en</a:t>
            </a:r>
            <a:r>
              <a:rPr sz="1350" b="0" i="0" dirty="0">
                <a:solidFill>
                  <a:srgbClr val="667085"/>
                </a:solidFill>
                <a:latin typeface="Calibri"/>
              </a:rPr>
              <a:t> el </a:t>
            </a:r>
            <a:r>
              <a:rPr sz="1350" b="0" i="0" dirty="0" err="1">
                <a:solidFill>
                  <a:srgbClr val="667085"/>
                </a:solidFill>
                <a:latin typeface="Calibri"/>
              </a:rPr>
              <a:t>fondo</a:t>
            </a:r>
            <a:r>
              <a:rPr sz="1350" b="0" i="0" dirty="0">
                <a:solidFill>
                  <a:srgbClr val="667085"/>
                </a:solidFill>
                <a:latin typeface="Calibri"/>
              </a:rPr>
              <a:t>, la </a:t>
            </a:r>
            <a:r>
              <a:rPr sz="1350" b="0" i="0" dirty="0" err="1">
                <a:solidFill>
                  <a:srgbClr val="667085"/>
                </a:solidFill>
                <a:latin typeface="Calibri"/>
              </a:rPr>
              <a:t>prueba</a:t>
            </a:r>
            <a:r>
              <a:rPr sz="1350" b="0" i="0" dirty="0">
                <a:solidFill>
                  <a:srgbClr val="667085"/>
                </a:solidFill>
                <a:latin typeface="Calibri"/>
              </a:rPr>
              <a:t> de campo de </a:t>
            </a:r>
            <a:r>
              <a:rPr sz="1350" b="0" i="0" dirty="0" err="1">
                <a:solidFill>
                  <a:srgbClr val="667085"/>
                </a:solidFill>
                <a:latin typeface="Calibri"/>
              </a:rPr>
              <a:t>por</a:t>
            </a:r>
            <a:r>
              <a:rPr sz="1350" b="0" i="0" dirty="0">
                <a:solidFill>
                  <a:srgbClr val="667085"/>
                </a:solidFill>
                <a:latin typeface="Calibri"/>
              </a:rPr>
              <a:t> </a:t>
            </a:r>
            <a:r>
              <a:rPr sz="1350" b="0" i="0" dirty="0" err="1">
                <a:solidFill>
                  <a:srgbClr val="667085"/>
                </a:solidFill>
                <a:latin typeface="Calibri"/>
              </a:rPr>
              <a:t>qué</a:t>
            </a:r>
            <a:r>
              <a:rPr sz="1350" b="0" i="0" dirty="0">
                <a:solidFill>
                  <a:srgbClr val="667085"/>
                </a:solidFill>
                <a:latin typeface="Calibri"/>
              </a:rPr>
              <a:t> </a:t>
            </a:r>
            <a:r>
              <a:rPr sz="1350" b="0" i="0" dirty="0" err="1">
                <a:solidFill>
                  <a:srgbClr val="667085"/>
                </a:solidFill>
                <a:latin typeface="Calibri"/>
              </a:rPr>
              <a:t>esa</a:t>
            </a:r>
            <a:r>
              <a:rPr sz="1350" b="0" i="0" dirty="0">
                <a:solidFill>
                  <a:srgbClr val="667085"/>
                </a:solidFill>
                <a:latin typeface="Calibri"/>
              </a:rPr>
              <a:t> </a:t>
            </a:r>
            <a:r>
              <a:rPr sz="1350" b="0" i="0" dirty="0" err="1">
                <a:solidFill>
                  <a:srgbClr val="667085"/>
                </a:solidFill>
                <a:latin typeface="Calibri"/>
              </a:rPr>
              <a:t>regla</a:t>
            </a:r>
            <a:r>
              <a:rPr sz="1350" b="0" i="0" dirty="0">
                <a:solidFill>
                  <a:srgbClr val="667085"/>
                </a:solidFill>
                <a:latin typeface="Calibri"/>
              </a:rPr>
              <a:t> </a:t>
            </a:r>
            <a:r>
              <a:rPr sz="1350" b="0" i="0" dirty="0" err="1">
                <a:solidFill>
                  <a:srgbClr val="667085"/>
                </a:solidFill>
                <a:latin typeface="Calibri"/>
              </a:rPr>
              <a:t>existe</a:t>
            </a:r>
            <a:r>
              <a:rPr sz="1350" b="0" i="0" dirty="0">
                <a:solidFill>
                  <a:srgbClr val="667085"/>
                </a:solidFill>
                <a:latin typeface="Calibri"/>
              </a:rPr>
              <a:t>.</a:t>
            </a:r>
          </a:p>
        </p:txBody>
      </p:sp>
      <p:sp>
        <p:nvSpPr>
          <p:cNvPr id="26" name="TextBox 25"/>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7" name="TextBox 26"/>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COMPARACION VISUAL</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Por que el reacomodo de capas cuesta de verdad</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783080"/>
            <a:ext cx="4846320" cy="320040"/>
          </a:xfrm>
          <a:prstGeom prst="rect">
            <a:avLst/>
          </a:prstGeom>
          <a:noFill/>
        </p:spPr>
        <p:txBody>
          <a:bodyPr wrap="square" lIns="0" tIns="0" rIns="0" bIns="0" anchor="t">
            <a:spAutoFit/>
          </a:bodyPr>
          <a:lstStyle/>
          <a:p>
            <a:pPr algn="l">
              <a:lnSpc>
                <a:spcPct val="115000"/>
              </a:lnSpc>
            </a:pPr>
            <a:r>
              <a:rPr sz="1300" b="1" i="0">
                <a:solidFill>
                  <a:srgbClr val="512BD4"/>
                </a:solidFill>
                <a:latin typeface="Calibri"/>
              </a:rPr>
              <a:t>ONION (.NET) — 1 solo proyecto compilable</a:t>
            </a:r>
          </a:p>
        </p:txBody>
      </p:sp>
      <p:sp>
        <p:nvSpPr>
          <p:cNvPr id="7" name="Rounded Rectangle 6"/>
          <p:cNvSpPr/>
          <p:nvPr/>
        </p:nvSpPr>
        <p:spPr>
          <a:xfrm>
            <a:off x="685800" y="2194560"/>
            <a:ext cx="4846320" cy="566928"/>
          </a:xfrm>
          <a:prstGeom prst="roundRect">
            <a:avLst>
              <a:gd name="adj" fmla="val 18000"/>
            </a:avLst>
          </a:prstGeom>
          <a:solidFill>
            <a:srgbClr val="C9B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2194560"/>
            <a:ext cx="4846320" cy="566928"/>
          </a:xfrm>
          <a:prstGeom prst="rect">
            <a:avLst/>
          </a:prstGeom>
          <a:noFill/>
        </p:spPr>
        <p:txBody>
          <a:bodyPr wrap="square" lIns="0" tIns="0" rIns="0" bIns="0" anchor="ctr">
            <a:spAutoFit/>
          </a:bodyPr>
          <a:lstStyle/>
          <a:p>
            <a:pPr algn="ctr">
              <a:lnSpc>
                <a:spcPct val="115000"/>
              </a:lnSpc>
            </a:pPr>
            <a:r>
              <a:rPr sz="1250" b="1" i="0">
                <a:solidFill>
                  <a:srgbClr val="1F2A37"/>
                </a:solidFill>
                <a:latin typeface="Calibri"/>
              </a:rPr>
              <a:t>Presentation</a:t>
            </a:r>
          </a:p>
        </p:txBody>
      </p:sp>
      <p:sp>
        <p:nvSpPr>
          <p:cNvPr id="9" name="Rounded Rectangle 8"/>
          <p:cNvSpPr/>
          <p:nvPr/>
        </p:nvSpPr>
        <p:spPr>
          <a:xfrm>
            <a:off x="1051560" y="2852928"/>
            <a:ext cx="4114800" cy="566928"/>
          </a:xfrm>
          <a:prstGeom prst="roundRect">
            <a:avLst>
              <a:gd name="adj" fmla="val 18000"/>
            </a:avLst>
          </a:prstGeom>
          <a:solidFill>
            <a:srgbClr val="A79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852928"/>
            <a:ext cx="4114800" cy="566928"/>
          </a:xfrm>
          <a:prstGeom prst="rect">
            <a:avLst/>
          </a:prstGeom>
          <a:noFill/>
        </p:spPr>
        <p:txBody>
          <a:bodyPr wrap="square" lIns="0" tIns="0" rIns="0" bIns="0" anchor="ctr">
            <a:spAutoFit/>
          </a:bodyPr>
          <a:lstStyle/>
          <a:p>
            <a:pPr algn="ctr">
              <a:lnSpc>
                <a:spcPct val="115000"/>
              </a:lnSpc>
            </a:pPr>
            <a:r>
              <a:rPr sz="1250" b="1" i="0">
                <a:solidFill>
                  <a:srgbClr val="FFFFFF"/>
                </a:solidFill>
                <a:latin typeface="Calibri"/>
              </a:rPr>
              <a:t>Application</a:t>
            </a:r>
          </a:p>
        </p:txBody>
      </p:sp>
      <p:sp>
        <p:nvSpPr>
          <p:cNvPr id="11" name="Rounded Rectangle 10"/>
          <p:cNvSpPr/>
          <p:nvPr/>
        </p:nvSpPr>
        <p:spPr>
          <a:xfrm>
            <a:off x="1417320" y="3511296"/>
            <a:ext cx="3383280" cy="566928"/>
          </a:xfrm>
          <a:prstGeom prst="roundRect">
            <a:avLst>
              <a:gd name="adj" fmla="val 18000"/>
            </a:avLst>
          </a:prstGeom>
          <a:solidFill>
            <a:srgbClr val="7A5C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17320" y="3511296"/>
            <a:ext cx="3383280" cy="566928"/>
          </a:xfrm>
          <a:prstGeom prst="rect">
            <a:avLst/>
          </a:prstGeom>
          <a:noFill/>
        </p:spPr>
        <p:txBody>
          <a:bodyPr wrap="square" lIns="0" tIns="0" rIns="0" bIns="0" anchor="ctr">
            <a:spAutoFit/>
          </a:bodyPr>
          <a:lstStyle/>
          <a:p>
            <a:pPr algn="ctr">
              <a:lnSpc>
                <a:spcPct val="115000"/>
              </a:lnSpc>
            </a:pPr>
            <a:r>
              <a:rPr sz="1250" b="1" i="0">
                <a:solidFill>
                  <a:srgbClr val="FFFFFF"/>
                </a:solidFill>
                <a:latin typeface="Calibri"/>
              </a:rPr>
              <a:t>Domain</a:t>
            </a:r>
          </a:p>
        </p:txBody>
      </p:sp>
      <p:sp>
        <p:nvSpPr>
          <p:cNvPr id="13" name="Rounded Rectangle 12"/>
          <p:cNvSpPr/>
          <p:nvPr/>
        </p:nvSpPr>
        <p:spPr>
          <a:xfrm>
            <a:off x="1051560" y="4169664"/>
            <a:ext cx="4114800" cy="566928"/>
          </a:xfrm>
          <a:prstGeom prst="roundRect">
            <a:avLst>
              <a:gd name="adj" fmla="val 18000"/>
            </a:avLst>
          </a:prstGeom>
          <a:solidFill>
            <a:srgbClr val="A79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4169664"/>
            <a:ext cx="4114800" cy="566928"/>
          </a:xfrm>
          <a:prstGeom prst="rect">
            <a:avLst/>
          </a:prstGeom>
          <a:noFill/>
        </p:spPr>
        <p:txBody>
          <a:bodyPr wrap="square" lIns="0" tIns="0" rIns="0" bIns="0" anchor="ctr">
            <a:spAutoFit/>
          </a:bodyPr>
          <a:lstStyle/>
          <a:p>
            <a:pPr algn="ctr">
              <a:lnSpc>
                <a:spcPct val="115000"/>
              </a:lnSpc>
            </a:pPr>
            <a:r>
              <a:rPr sz="1250" b="1" i="0">
                <a:solidFill>
                  <a:srgbClr val="FFFFFF"/>
                </a:solidFill>
                <a:latin typeface="Calibri"/>
              </a:rPr>
              <a:t>Infrastructure (implementa interfaces internas)</a:t>
            </a:r>
          </a:p>
        </p:txBody>
      </p:sp>
      <p:sp>
        <p:nvSpPr>
          <p:cNvPr id="15" name="TextBox 14"/>
          <p:cNvSpPr txBox="1"/>
          <p:nvPr/>
        </p:nvSpPr>
        <p:spPr>
          <a:xfrm>
            <a:off x="685800" y="4901184"/>
            <a:ext cx="4846320" cy="365760"/>
          </a:xfrm>
          <a:prstGeom prst="rect">
            <a:avLst/>
          </a:prstGeom>
          <a:noFill/>
        </p:spPr>
        <p:txBody>
          <a:bodyPr wrap="square" lIns="0" tIns="0" rIns="0" bIns="0" anchor="t">
            <a:spAutoFit/>
          </a:bodyPr>
          <a:lstStyle/>
          <a:p>
            <a:pPr algn="ctr">
              <a:lnSpc>
                <a:spcPct val="115000"/>
              </a:lnSpc>
            </a:pPr>
            <a:r>
              <a:rPr sz="1150" b="0" i="1">
                <a:solidFill>
                  <a:srgbClr val="667085"/>
                </a:solidFill>
                <a:latin typeface="Calibri"/>
              </a:rPr>
              <a:t>Limites por convencion / namespace</a:t>
            </a:r>
          </a:p>
        </p:txBody>
      </p:sp>
      <p:sp>
        <p:nvSpPr>
          <p:cNvPr id="16" name="TextBox 15"/>
          <p:cNvSpPr txBox="1"/>
          <p:nvPr/>
        </p:nvSpPr>
        <p:spPr>
          <a:xfrm>
            <a:off x="6035040" y="1783080"/>
            <a:ext cx="5486400" cy="320040"/>
          </a:xfrm>
          <a:prstGeom prst="rect">
            <a:avLst/>
          </a:prstGeom>
          <a:noFill/>
        </p:spPr>
        <p:txBody>
          <a:bodyPr wrap="square" lIns="0" tIns="0" rIns="0" bIns="0" anchor="t">
            <a:spAutoFit/>
          </a:bodyPr>
          <a:lstStyle/>
          <a:p>
            <a:pPr algn="l">
              <a:lnSpc>
                <a:spcPct val="115000"/>
              </a:lnSpc>
            </a:pPr>
            <a:r>
              <a:rPr sz="1300" b="1" i="0">
                <a:solidFill>
                  <a:srgbClr val="6DB33F"/>
                </a:solidFill>
                <a:latin typeface="Calibri"/>
              </a:rPr>
              <a:t>HEXAGONAL (Java) — 6 modulos Maven separados</a:t>
            </a:r>
          </a:p>
        </p:txBody>
      </p:sp>
      <p:sp>
        <p:nvSpPr>
          <p:cNvPr id="17" name="Rounded Rectangle 16"/>
          <p:cNvSpPr/>
          <p:nvPr/>
        </p:nvSpPr>
        <p:spPr>
          <a:xfrm>
            <a:off x="7589520" y="2880360"/>
            <a:ext cx="2377440" cy="914400"/>
          </a:xfrm>
          <a:prstGeom prst="roundRect">
            <a:avLst>
              <a:gd name="adj" fmla="val 16000"/>
            </a:avLst>
          </a:prstGeom>
          <a:solidFill>
            <a:srgbClr val="2F6B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89520" y="2880360"/>
            <a:ext cx="2377440" cy="914400"/>
          </a:xfrm>
          <a:prstGeom prst="rect">
            <a:avLst/>
          </a:prstGeom>
          <a:noFill/>
        </p:spPr>
        <p:txBody>
          <a:bodyPr wrap="square" lIns="0" tIns="0" rIns="0" bIns="0" anchor="ctr">
            <a:spAutoFit/>
          </a:bodyPr>
          <a:lstStyle/>
          <a:p>
            <a:pPr algn="ctr">
              <a:lnSpc>
                <a:spcPct val="115000"/>
              </a:lnSpc>
            </a:pPr>
            <a:r>
              <a:rPr sz="1250" b="1" i="0">
                <a:solidFill>
                  <a:srgbClr val="FFFFFF"/>
                </a:solidFill>
                <a:latin typeface="Calibri"/>
              </a:rPr>
              <a:t>DOMINIO +</a:t>
            </a:r>
          </a:p>
          <a:p>
            <a:pPr algn="ctr">
              <a:lnSpc>
                <a:spcPct val="115000"/>
              </a:lnSpc>
            </a:pPr>
            <a:r>
              <a:rPr sz="1250" b="1" i="0">
                <a:solidFill>
                  <a:srgbClr val="FFFFFF"/>
                </a:solidFill>
                <a:latin typeface="Calibri"/>
              </a:rPr>
              <a:t>CASOS DE USO</a:t>
            </a:r>
          </a:p>
        </p:txBody>
      </p:sp>
      <p:sp>
        <p:nvSpPr>
          <p:cNvPr id="19" name="Rounded Rectangle 18"/>
          <p:cNvSpPr/>
          <p:nvPr/>
        </p:nvSpPr>
        <p:spPr>
          <a:xfrm>
            <a:off x="6035040" y="2148840"/>
            <a:ext cx="2103120" cy="914400"/>
          </a:xfrm>
          <a:prstGeom prst="roundRect">
            <a:avLst>
              <a:gd name="adj" fmla="val 16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035040" y="2148840"/>
            <a:ext cx="2103120" cy="914400"/>
          </a:xfrm>
          <a:prstGeom prst="rect">
            <a:avLst/>
          </a:prstGeom>
          <a:noFill/>
        </p:spPr>
        <p:txBody>
          <a:bodyPr wrap="square" lIns="0" tIns="0" rIns="0" bIns="0" anchor="ctr">
            <a:spAutoFit/>
          </a:bodyPr>
          <a:lstStyle/>
          <a:p>
            <a:pPr algn="ctr">
              <a:lnSpc>
                <a:spcPct val="110000"/>
              </a:lnSpc>
            </a:pPr>
            <a:r>
              <a:rPr sz="1100" b="1" i="0">
                <a:solidFill>
                  <a:srgbClr val="FFFFFF"/>
                </a:solidFill>
                <a:latin typeface="Calibri"/>
              </a:rPr>
              <a:t>Adaptador REST</a:t>
            </a:r>
          </a:p>
          <a:p>
            <a:pPr algn="ctr">
              <a:lnSpc>
                <a:spcPct val="110000"/>
              </a:lnSpc>
            </a:pPr>
            <a:r>
              <a:rPr sz="1100" b="1" i="0">
                <a:solidFill>
                  <a:srgbClr val="FFFFFF"/>
                </a:solidFill>
                <a:latin typeface="Calibri"/>
              </a:rPr>
              <a:t>(puerto IN)</a:t>
            </a:r>
          </a:p>
        </p:txBody>
      </p:sp>
      <p:sp>
        <p:nvSpPr>
          <p:cNvPr id="21" name="Rounded Rectangle 20"/>
          <p:cNvSpPr/>
          <p:nvPr/>
        </p:nvSpPr>
        <p:spPr>
          <a:xfrm>
            <a:off x="6035040" y="3977639"/>
            <a:ext cx="2103120" cy="914400"/>
          </a:xfrm>
          <a:prstGeom prst="roundRect">
            <a:avLst>
              <a:gd name="adj" fmla="val 16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35040" y="3977639"/>
            <a:ext cx="2103120" cy="914400"/>
          </a:xfrm>
          <a:prstGeom prst="rect">
            <a:avLst/>
          </a:prstGeom>
          <a:noFill/>
        </p:spPr>
        <p:txBody>
          <a:bodyPr wrap="square" lIns="0" tIns="0" rIns="0" bIns="0" anchor="ctr">
            <a:spAutoFit/>
          </a:bodyPr>
          <a:lstStyle/>
          <a:p>
            <a:pPr algn="ctr">
              <a:lnSpc>
                <a:spcPct val="110000"/>
              </a:lnSpc>
            </a:pPr>
            <a:r>
              <a:rPr sz="1100" b="1" i="0">
                <a:solidFill>
                  <a:srgbClr val="FFFFFF"/>
                </a:solidFill>
                <a:latin typeface="Calibri"/>
              </a:rPr>
              <a:t>Adaptador JPA/Postgres</a:t>
            </a:r>
          </a:p>
          <a:p>
            <a:pPr algn="ctr">
              <a:lnSpc>
                <a:spcPct val="110000"/>
              </a:lnSpc>
            </a:pPr>
            <a:r>
              <a:rPr sz="1100" b="1" i="0">
                <a:solidFill>
                  <a:srgbClr val="FFFFFF"/>
                </a:solidFill>
                <a:latin typeface="Calibri"/>
              </a:rPr>
              <a:t>(puerto OUT)</a:t>
            </a:r>
          </a:p>
        </p:txBody>
      </p:sp>
      <p:sp>
        <p:nvSpPr>
          <p:cNvPr id="23" name="Rounded Rectangle 22"/>
          <p:cNvSpPr/>
          <p:nvPr/>
        </p:nvSpPr>
        <p:spPr>
          <a:xfrm>
            <a:off x="9418320" y="3977639"/>
            <a:ext cx="2103120" cy="914400"/>
          </a:xfrm>
          <a:prstGeom prst="roundRect">
            <a:avLst>
              <a:gd name="adj" fmla="val 16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18320" y="3977639"/>
            <a:ext cx="2103120" cy="914400"/>
          </a:xfrm>
          <a:prstGeom prst="rect">
            <a:avLst/>
          </a:prstGeom>
          <a:noFill/>
        </p:spPr>
        <p:txBody>
          <a:bodyPr wrap="square" lIns="0" tIns="0" rIns="0" bIns="0" anchor="ctr">
            <a:spAutoFit/>
          </a:bodyPr>
          <a:lstStyle/>
          <a:p>
            <a:pPr algn="ctr">
              <a:lnSpc>
                <a:spcPct val="110000"/>
              </a:lnSpc>
            </a:pPr>
            <a:r>
              <a:rPr sz="1100" b="1" i="0">
                <a:solidFill>
                  <a:srgbClr val="FFFFFF"/>
                </a:solidFill>
                <a:latin typeface="Calibri"/>
              </a:rPr>
              <a:t>Adaptador Central/Seguros</a:t>
            </a:r>
          </a:p>
          <a:p>
            <a:pPr algn="ctr">
              <a:lnSpc>
                <a:spcPct val="110000"/>
              </a:lnSpc>
            </a:pPr>
            <a:r>
              <a:rPr sz="1100" b="1" i="0">
                <a:solidFill>
                  <a:srgbClr val="FFFFFF"/>
                </a:solidFill>
                <a:latin typeface="Calibri"/>
              </a:rPr>
              <a:t>(puerto OUT)</a:t>
            </a:r>
          </a:p>
        </p:txBody>
      </p:sp>
      <p:cxnSp>
        <p:nvCxnSpPr>
          <p:cNvPr id="25" name="Connector 24"/>
          <p:cNvCxnSpPr/>
          <p:nvPr/>
        </p:nvCxnSpPr>
        <p:spPr>
          <a:xfrm flipH="1">
            <a:off x="7589520" y="2606040"/>
            <a:ext cx="548640" cy="502920"/>
          </a:xfrm>
          <a:prstGeom prst="line">
            <a:avLst/>
          </a:prstGeom>
          <a:ln w="22225">
            <a:solidFill>
              <a:srgbClr val="B6C2B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7589520" y="3566160"/>
            <a:ext cx="548640" cy="868679"/>
          </a:xfrm>
          <a:prstGeom prst="line">
            <a:avLst/>
          </a:prstGeom>
          <a:ln w="22225">
            <a:solidFill>
              <a:srgbClr val="B6C2B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418320" y="3566160"/>
            <a:ext cx="548640" cy="868679"/>
          </a:xfrm>
          <a:prstGeom prst="line">
            <a:avLst/>
          </a:prstGeom>
          <a:ln w="22225">
            <a:solidFill>
              <a:srgbClr val="B6C2B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035040" y="5074920"/>
            <a:ext cx="5486400" cy="365760"/>
          </a:xfrm>
          <a:prstGeom prst="rect">
            <a:avLst/>
          </a:prstGeom>
          <a:noFill/>
        </p:spPr>
        <p:txBody>
          <a:bodyPr wrap="square" lIns="0" tIns="0" rIns="0" bIns="0" anchor="t">
            <a:spAutoFit/>
          </a:bodyPr>
          <a:lstStyle/>
          <a:p>
            <a:pPr algn="ctr">
              <a:lnSpc>
                <a:spcPct val="115000"/>
              </a:lnSpc>
            </a:pPr>
            <a:r>
              <a:rPr sz="1150" b="0" i="1">
                <a:solidFill>
                  <a:srgbClr val="667085"/>
                </a:solidFill>
                <a:latin typeface="Calibri"/>
              </a:rPr>
              <a:t>Limites fisicos, verificables por el compilador (y por ArchUnit)</a:t>
            </a:r>
          </a:p>
        </p:txBody>
      </p:sp>
      <p:sp>
        <p:nvSpPr>
          <p:cNvPr id="29" name="TextBox 2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30" name="TextBox 2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DISTRIBUCION DEL ESFUERZO</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Donde cae realmente la carga de trabajo</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783080"/>
            <a:ext cx="10881360" cy="1115568"/>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53340" cy="1115568"/>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892808"/>
            <a:ext cx="4206240" cy="320040"/>
          </a:xfrm>
          <a:prstGeom prst="rect">
            <a:avLst/>
          </a:prstGeom>
          <a:noFill/>
        </p:spPr>
        <p:txBody>
          <a:bodyPr wrap="square" lIns="0" tIns="0" rIns="0" bIns="0" anchor="t">
            <a:spAutoFit/>
          </a:bodyPr>
          <a:lstStyle/>
          <a:p>
            <a:pPr algn="l">
              <a:lnSpc>
                <a:spcPct val="115000"/>
              </a:lnSpc>
            </a:pPr>
            <a:r>
              <a:rPr sz="1450" b="1" i="0">
                <a:solidFill>
                  <a:srgbClr val="1F2A37"/>
                </a:solidFill>
                <a:latin typeface="Calibri"/>
              </a:rPr>
              <a:t>Dominio (pos-domain)</a:t>
            </a:r>
          </a:p>
        </p:txBody>
      </p:sp>
      <p:sp>
        <p:nvSpPr>
          <p:cNvPr id="9" name="TextBox 8"/>
          <p:cNvSpPr txBox="1"/>
          <p:nvPr/>
        </p:nvSpPr>
        <p:spPr>
          <a:xfrm>
            <a:off x="868680" y="2221992"/>
            <a:ext cx="4206240" cy="548640"/>
          </a:xfrm>
          <a:prstGeom prst="rect">
            <a:avLst/>
          </a:prstGeom>
          <a:noFill/>
        </p:spPr>
        <p:txBody>
          <a:bodyPr wrap="square" lIns="0" tIns="0" rIns="0" bIns="0" anchor="t">
            <a:spAutoFit/>
          </a:bodyPr>
          <a:lstStyle/>
          <a:p>
            <a:pPr algn="l">
              <a:lnSpc>
                <a:spcPct val="115000"/>
              </a:lnSpc>
            </a:pPr>
            <a:r>
              <a:rPr sz="1150" b="0" i="1">
                <a:solidFill>
                  <a:srgbClr val="512BD4"/>
                </a:solidFill>
                <a:latin typeface="Calibri"/>
              </a:rPr>
              <a:t>Alto volumen, bajo riesgo</a:t>
            </a:r>
          </a:p>
        </p:txBody>
      </p:sp>
      <p:sp>
        <p:nvSpPr>
          <p:cNvPr id="10" name="TextBox 9"/>
          <p:cNvSpPr txBox="1"/>
          <p:nvPr/>
        </p:nvSpPr>
        <p:spPr>
          <a:xfrm>
            <a:off x="5212080" y="1911096"/>
            <a:ext cx="6035040" cy="914400"/>
          </a:xfrm>
          <a:prstGeom prst="rect">
            <a:avLst/>
          </a:prstGeom>
          <a:noFill/>
        </p:spPr>
        <p:txBody>
          <a:bodyPr wrap="square" lIns="0" tIns="0" rIns="0" bIns="0" anchor="t">
            <a:spAutoFit/>
          </a:bodyPr>
          <a:lstStyle/>
          <a:p>
            <a:pPr algn="l">
              <a:lnSpc>
                <a:spcPct val="120000"/>
              </a:lnSpc>
            </a:pPr>
            <a:r>
              <a:rPr sz="1180" b="0" i="0">
                <a:solidFill>
                  <a:srgbClr val="667085"/>
                </a:solidFill>
                <a:latin typeface="Calibri"/>
              </a:rPr>
              <a:t>33 entidades + 12 Value Objects + ~10 servicios de dominio puros. Mecanico pero exhaustivo: cada regla RN01-RN44 vive aqui.</a:t>
            </a:r>
          </a:p>
        </p:txBody>
      </p:sp>
      <p:sp>
        <p:nvSpPr>
          <p:cNvPr id="11" name="Rounded Rectangle 10"/>
          <p:cNvSpPr/>
          <p:nvPr/>
        </p:nvSpPr>
        <p:spPr>
          <a:xfrm>
            <a:off x="548640" y="3026664"/>
            <a:ext cx="10881360" cy="1115568"/>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3026664"/>
            <a:ext cx="53340" cy="111556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3136392"/>
            <a:ext cx="4206240" cy="320040"/>
          </a:xfrm>
          <a:prstGeom prst="rect">
            <a:avLst/>
          </a:prstGeom>
          <a:noFill/>
        </p:spPr>
        <p:txBody>
          <a:bodyPr wrap="square" lIns="0" tIns="0" rIns="0" bIns="0" anchor="t">
            <a:spAutoFit/>
          </a:bodyPr>
          <a:lstStyle/>
          <a:p>
            <a:pPr algn="l">
              <a:lnSpc>
                <a:spcPct val="115000"/>
              </a:lnSpc>
            </a:pPr>
            <a:r>
              <a:rPr sz="1450" b="1" i="0">
                <a:solidFill>
                  <a:srgbClr val="1F2A37"/>
                </a:solidFill>
                <a:latin typeface="Calibri"/>
              </a:rPr>
              <a:t>Aplicacion (pos-application)</a:t>
            </a:r>
          </a:p>
        </p:txBody>
      </p:sp>
      <p:sp>
        <p:nvSpPr>
          <p:cNvPr id="14" name="TextBox 13"/>
          <p:cNvSpPr txBox="1"/>
          <p:nvPr/>
        </p:nvSpPr>
        <p:spPr>
          <a:xfrm>
            <a:off x="868680" y="3465576"/>
            <a:ext cx="4206240" cy="548640"/>
          </a:xfrm>
          <a:prstGeom prst="rect">
            <a:avLst/>
          </a:prstGeom>
          <a:noFill/>
        </p:spPr>
        <p:txBody>
          <a:bodyPr wrap="square" lIns="0" tIns="0" rIns="0" bIns="0" anchor="t">
            <a:spAutoFit/>
          </a:bodyPr>
          <a:lstStyle/>
          <a:p>
            <a:pPr algn="l">
              <a:lnSpc>
                <a:spcPct val="115000"/>
              </a:lnSpc>
            </a:pPr>
            <a:r>
              <a:rPr sz="1150" b="0" i="1">
                <a:solidFill>
                  <a:srgbClr val="E87A1E"/>
                </a:solidFill>
                <a:latin typeface="Calibri"/>
              </a:rPr>
              <a:t>Alto: se multiplica el numero de piezas</a:t>
            </a:r>
          </a:p>
        </p:txBody>
      </p:sp>
      <p:sp>
        <p:nvSpPr>
          <p:cNvPr id="15" name="TextBox 14"/>
          <p:cNvSpPr txBox="1"/>
          <p:nvPr/>
        </p:nvSpPr>
        <p:spPr>
          <a:xfrm>
            <a:off x="5212080" y="3154680"/>
            <a:ext cx="6035040" cy="914400"/>
          </a:xfrm>
          <a:prstGeom prst="rect">
            <a:avLst/>
          </a:prstGeom>
          <a:noFill/>
        </p:spPr>
        <p:txBody>
          <a:bodyPr wrap="square" lIns="0" tIns="0" rIns="0" bIns="0" anchor="t">
            <a:spAutoFit/>
          </a:bodyPr>
          <a:lstStyle/>
          <a:p>
            <a:pPr algn="l">
              <a:lnSpc>
                <a:spcPct val="120000"/>
              </a:lnSpc>
            </a:pPr>
            <a:r>
              <a:rPr sz="1180" b="0" i="0">
                <a:solidFill>
                  <a:srgbClr val="667085"/>
                </a:solidFill>
                <a:latin typeface="Calibri"/>
              </a:rPr>
              <a:t>Onion tenia 1 interfaz de repo por entidad; Hexagonal exige separar ademas puertos IN (casos de uso) por cada intencion del usuario.</a:t>
            </a:r>
          </a:p>
        </p:txBody>
      </p:sp>
      <p:sp>
        <p:nvSpPr>
          <p:cNvPr id="16" name="Rounded Rectangle 15"/>
          <p:cNvSpPr/>
          <p:nvPr/>
        </p:nvSpPr>
        <p:spPr>
          <a:xfrm>
            <a:off x="548640" y="4270248"/>
            <a:ext cx="10881360" cy="1115568"/>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48640" y="4270248"/>
            <a:ext cx="53340" cy="11155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8680" y="4379976"/>
            <a:ext cx="4206240" cy="320040"/>
          </a:xfrm>
          <a:prstGeom prst="rect">
            <a:avLst/>
          </a:prstGeom>
          <a:noFill/>
        </p:spPr>
        <p:txBody>
          <a:bodyPr wrap="square" lIns="0" tIns="0" rIns="0" bIns="0" anchor="t">
            <a:spAutoFit/>
          </a:bodyPr>
          <a:lstStyle/>
          <a:p>
            <a:pPr algn="l">
              <a:lnSpc>
                <a:spcPct val="115000"/>
              </a:lnSpc>
            </a:pPr>
            <a:r>
              <a:rPr sz="1450" b="1" i="0">
                <a:solidFill>
                  <a:srgbClr val="1F2A37"/>
                </a:solidFill>
                <a:latin typeface="Calibri"/>
              </a:rPr>
              <a:t>Adaptador de persistencia</a:t>
            </a:r>
          </a:p>
        </p:txBody>
      </p:sp>
      <p:sp>
        <p:nvSpPr>
          <p:cNvPr id="19" name="TextBox 18"/>
          <p:cNvSpPr txBox="1"/>
          <p:nvPr/>
        </p:nvSpPr>
        <p:spPr>
          <a:xfrm>
            <a:off x="868680" y="4709160"/>
            <a:ext cx="4206240" cy="548640"/>
          </a:xfrm>
          <a:prstGeom prst="rect">
            <a:avLst/>
          </a:prstGeom>
          <a:noFill/>
        </p:spPr>
        <p:txBody>
          <a:bodyPr wrap="square" lIns="0" tIns="0" rIns="0" bIns="0" anchor="t">
            <a:spAutoFit/>
          </a:bodyPr>
          <a:lstStyle/>
          <a:p>
            <a:pPr algn="l">
              <a:lnSpc>
                <a:spcPct val="115000"/>
              </a:lnSpc>
            </a:pPr>
            <a:r>
              <a:rPr sz="1150" b="0" i="1">
                <a:solidFill>
                  <a:srgbClr val="DC2626"/>
                </a:solidFill>
                <a:latin typeface="Calibri"/>
              </a:rPr>
              <a:t>El mas costoso tecnicamente</a:t>
            </a:r>
          </a:p>
        </p:txBody>
      </p:sp>
      <p:sp>
        <p:nvSpPr>
          <p:cNvPr id="20" name="TextBox 19"/>
          <p:cNvSpPr txBox="1"/>
          <p:nvPr/>
        </p:nvSpPr>
        <p:spPr>
          <a:xfrm>
            <a:off x="5212080" y="4398264"/>
            <a:ext cx="6035040" cy="914400"/>
          </a:xfrm>
          <a:prstGeom prst="rect">
            <a:avLst/>
          </a:prstGeom>
          <a:noFill/>
        </p:spPr>
        <p:txBody>
          <a:bodyPr wrap="square" lIns="0" tIns="0" rIns="0" bIns="0" anchor="t">
            <a:spAutoFit/>
          </a:bodyPr>
          <a:lstStyle/>
          <a:p>
            <a:pPr algn="l">
              <a:lnSpc>
                <a:spcPct val="120000"/>
              </a:lnSpc>
            </a:pPr>
            <a:r>
              <a:rPr sz="1180" b="0" i="0">
                <a:solidFill>
                  <a:srgbClr val="667085"/>
                </a:solidFill>
                <a:latin typeface="Calibri"/>
              </a:rPr>
              <a:t>27 tablas, mapeo JPA &lt;-&gt; dominio, migraciones Flyway escritas a mano, bloqueo optimista/pesimista para stock y recetas.</a:t>
            </a:r>
          </a:p>
        </p:txBody>
      </p:sp>
      <p:sp>
        <p:nvSpPr>
          <p:cNvPr id="21" name="Rounded Rectangle 20"/>
          <p:cNvSpPr/>
          <p:nvPr/>
        </p:nvSpPr>
        <p:spPr>
          <a:xfrm>
            <a:off x="548640" y="5513832"/>
            <a:ext cx="10881360" cy="1115568"/>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48640" y="5513832"/>
            <a:ext cx="53340" cy="1115568"/>
          </a:xfrm>
          <a:prstGeom prst="rect">
            <a:avLst/>
          </a:prstGeom>
          <a:solidFill>
            <a:srgbClr val="667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5623560"/>
            <a:ext cx="4206240" cy="320040"/>
          </a:xfrm>
          <a:prstGeom prst="rect">
            <a:avLst/>
          </a:prstGeom>
          <a:noFill/>
        </p:spPr>
        <p:txBody>
          <a:bodyPr wrap="square" lIns="0" tIns="0" rIns="0" bIns="0" anchor="t">
            <a:spAutoFit/>
          </a:bodyPr>
          <a:lstStyle/>
          <a:p>
            <a:pPr algn="l">
              <a:lnSpc>
                <a:spcPct val="115000"/>
              </a:lnSpc>
            </a:pPr>
            <a:r>
              <a:rPr sz="1450" b="1" i="0">
                <a:solidFill>
                  <a:srgbClr val="1F2A37"/>
                </a:solidFill>
                <a:latin typeface="Calibri"/>
              </a:rPr>
              <a:t>Adaptador externo (central, seguros)</a:t>
            </a:r>
          </a:p>
        </p:txBody>
      </p:sp>
      <p:sp>
        <p:nvSpPr>
          <p:cNvPr id="24" name="TextBox 23"/>
          <p:cNvSpPr txBox="1"/>
          <p:nvPr/>
        </p:nvSpPr>
        <p:spPr>
          <a:xfrm>
            <a:off x="868680" y="5952744"/>
            <a:ext cx="4206240" cy="548640"/>
          </a:xfrm>
          <a:prstGeom prst="rect">
            <a:avLst/>
          </a:prstGeom>
          <a:noFill/>
        </p:spPr>
        <p:txBody>
          <a:bodyPr wrap="square" lIns="0" tIns="0" rIns="0" bIns="0" anchor="t">
            <a:spAutoFit/>
          </a:bodyPr>
          <a:lstStyle/>
          <a:p>
            <a:pPr algn="l">
              <a:lnSpc>
                <a:spcPct val="115000"/>
              </a:lnSpc>
            </a:pPr>
            <a:r>
              <a:rPr sz="1150" b="0" i="1">
                <a:solidFill>
                  <a:srgbClr val="667085"/>
                </a:solidFill>
                <a:latin typeface="Calibri"/>
              </a:rPr>
              <a:t>Bajo en codigo, alto en incertidumbre</a:t>
            </a:r>
          </a:p>
        </p:txBody>
      </p:sp>
      <p:sp>
        <p:nvSpPr>
          <p:cNvPr id="25" name="TextBox 24"/>
          <p:cNvSpPr txBox="1"/>
          <p:nvPr/>
        </p:nvSpPr>
        <p:spPr>
          <a:xfrm>
            <a:off x="5212080" y="5641848"/>
            <a:ext cx="6035040" cy="914400"/>
          </a:xfrm>
          <a:prstGeom prst="rect">
            <a:avLst/>
          </a:prstGeom>
          <a:noFill/>
        </p:spPr>
        <p:txBody>
          <a:bodyPr wrap="square" lIns="0" tIns="0" rIns="0" bIns="0" anchor="t">
            <a:spAutoFit/>
          </a:bodyPr>
          <a:lstStyle/>
          <a:p>
            <a:pPr algn="l">
              <a:lnSpc>
                <a:spcPct val="120000"/>
              </a:lnSpc>
            </a:pPr>
            <a:r>
              <a:rPr sz="1180" b="0" i="0">
                <a:solidFill>
                  <a:srgbClr val="667085"/>
                </a:solidFill>
                <a:latin typeface="Calibri"/>
              </a:rPr>
              <a:t>Se implementan como mocks mientras no exista el contrato real — el riesgo se traslada a produccion, no se elimina.</a:t>
            </a:r>
          </a:p>
        </p:txBody>
      </p:sp>
      <p:sp>
        <p:nvSpPr>
          <p:cNvPr id="26" name="TextBox 25"/>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7" name="TextBox 26"/>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FRICCION ESPERADA</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La que cualquier lista de “cosas dificiles” ya anticipa</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74519"/>
            <a:ext cx="5394960" cy="457200"/>
          </a:xfrm>
          <a:prstGeom prst="rect">
            <a:avLst/>
          </a:prstGeom>
          <a:noFill/>
        </p:spPr>
        <p:txBody>
          <a:bodyPr wrap="square" lIns="0" tIns="0" rIns="0" bIns="0">
            <a:spAutoFit/>
          </a:bodyPr>
          <a:lstStyle/>
          <a:p>
            <a:pPr>
              <a:lnSpc>
                <a:spcPct val="118000"/>
              </a:lnSpc>
              <a:spcAft>
                <a:spcPts val="2016"/>
              </a:spcAft>
            </a:pPr>
            <a:r>
              <a:rPr sz="1350" b="1">
                <a:solidFill>
                  <a:srgbClr val="E87A1E"/>
                </a:solidFill>
                <a:latin typeface="Calibri"/>
              </a:rPr>
              <a:t>▸  </a:t>
            </a:r>
            <a:r>
              <a:rPr sz="1350" b="1">
                <a:solidFill>
                  <a:srgbClr val="1F2A37"/>
                </a:solidFill>
                <a:latin typeface="Calibri"/>
              </a:rPr>
              <a:t>Value Objects sin operadores. </a:t>
            </a:r>
            <a:r>
              <a:rPr sz="1350" b="0">
                <a:solidFill>
                  <a:srgbClr val="1F2A37"/>
                </a:solidFill>
                <a:latin typeface="Calibri"/>
              </a:rPr>
              <a:t>C# permite record con +/&lt;/&gt;; Java no. Cada calculo de Dinero o Cantidad se reescribe con metodos con nombre.</a:t>
            </a:r>
          </a:p>
          <a:p>
            <a:pPr>
              <a:lnSpc>
                <a:spcPct val="118000"/>
              </a:lnSpc>
              <a:spcAft>
                <a:spcPts val="2016"/>
              </a:spcAft>
            </a:pPr>
            <a:r>
              <a:rPr sz="1350" b="1">
                <a:solidFill>
                  <a:srgbClr val="E87A1E"/>
                </a:solidFill>
                <a:latin typeface="Calibri"/>
              </a:rPr>
              <a:t>▸  </a:t>
            </a:r>
            <a:r>
              <a:rPr sz="1350" b="1">
                <a:solidFill>
                  <a:srgbClr val="1F2A37"/>
                </a:solidFill>
                <a:latin typeface="Calibri"/>
              </a:rPr>
              <a:t>EF Core Migrations → Flyway a mano. </a:t>
            </a:r>
            <a:r>
              <a:rPr sz="1350" b="0">
                <a:solidFill>
                  <a:srgbClr val="1F2A37"/>
                </a:solidFill>
                <a:latin typeface="Calibri"/>
              </a:rPr>
              <a:t>.NET generaba el DDL desde las entidades; en Java hay que escribir el SQL de las ~27 tablas a mano.</a:t>
            </a:r>
          </a:p>
          <a:p>
            <a:pPr>
              <a:lnSpc>
                <a:spcPct val="118000"/>
              </a:lnSpc>
              <a:spcAft>
                <a:spcPts val="2016"/>
              </a:spcAft>
            </a:pPr>
            <a:r>
              <a:rPr sz="1350" b="1">
                <a:solidFill>
                  <a:srgbClr val="E87A1E"/>
                </a:solidFill>
                <a:latin typeface="Calibri"/>
              </a:rPr>
              <a:t>▸  </a:t>
            </a:r>
            <a:r>
              <a:rPr sz="1350" b="1">
                <a:solidFill>
                  <a:srgbClr val="1F2A37"/>
                </a:solidFill>
                <a:latin typeface="Calibri"/>
              </a:rPr>
              <a:t>Concurrencia: stock y recetas retenidas. </a:t>
            </a:r>
            <a:r>
              <a:rPr sz="1350" b="0">
                <a:solidFill>
                  <a:srgbClr val="1F2A37"/>
                </a:solidFill>
                <a:latin typeface="Calibri"/>
              </a:rPr>
              <a:t>Bloqueo optimista/pesimista en JPA no es un simple find-and-replace del código .NET.</a:t>
            </a:r>
          </a:p>
        </p:txBody>
      </p:sp>
      <p:sp>
        <p:nvSpPr>
          <p:cNvPr id="7" name="TextBox 6"/>
          <p:cNvSpPr txBox="1"/>
          <p:nvPr/>
        </p:nvSpPr>
        <p:spPr>
          <a:xfrm>
            <a:off x="6172200" y="1874519"/>
            <a:ext cx="5394960" cy="457200"/>
          </a:xfrm>
          <a:prstGeom prst="rect">
            <a:avLst/>
          </a:prstGeom>
          <a:noFill/>
        </p:spPr>
        <p:txBody>
          <a:bodyPr wrap="square" lIns="0" tIns="0" rIns="0" bIns="0">
            <a:spAutoFit/>
          </a:bodyPr>
          <a:lstStyle/>
          <a:p>
            <a:pPr>
              <a:lnSpc>
                <a:spcPct val="118000"/>
              </a:lnSpc>
              <a:spcAft>
                <a:spcPts val="2016"/>
              </a:spcAft>
            </a:pPr>
            <a:r>
              <a:rPr sz="1350" b="1">
                <a:solidFill>
                  <a:srgbClr val="E87A1E"/>
                </a:solidFill>
                <a:latin typeface="Calibri"/>
              </a:rPr>
              <a:t>▸  </a:t>
            </a:r>
            <a:r>
              <a:rPr sz="1350" b="1">
                <a:solidFill>
                  <a:srgbClr val="1F2A37"/>
                </a:solidFill>
                <a:latin typeface="Calibri"/>
              </a:rPr>
              <a:t>Capas fisicas vs. por convencion. </a:t>
            </a:r>
            <a:r>
              <a:rPr sz="1350" b="0">
                <a:solidFill>
                  <a:srgbClr val="1F2A37"/>
                </a:solidFill>
                <a:latin typeface="Calibri"/>
              </a:rPr>
              <a:t>En Onion nada impide en la practica que alguien importe Infrastructure desde un caso de uso; en Maven modular, ese error no compila.</a:t>
            </a:r>
          </a:p>
          <a:p>
            <a:pPr>
              <a:lnSpc>
                <a:spcPct val="118000"/>
              </a:lnSpc>
              <a:spcAft>
                <a:spcPts val="2016"/>
              </a:spcAft>
            </a:pPr>
            <a:r>
              <a:rPr sz="1350" b="1">
                <a:solidFill>
                  <a:srgbClr val="E87A1E"/>
                </a:solidFill>
                <a:latin typeface="Calibri"/>
              </a:rPr>
              <a:t>▸  </a:t>
            </a:r>
            <a:r>
              <a:rPr sz="1350" b="1">
                <a:solidFill>
                  <a:srgbClr val="1F2A37"/>
                </a:solidFill>
                <a:latin typeface="Calibri"/>
              </a:rPr>
              <a:t>Enums [Flags] sin equivalente directo. </a:t>
            </a:r>
            <a:r>
              <a:rPr sz="1350" b="0">
                <a:solidFill>
                  <a:srgbClr val="1F2A37"/>
                </a:solidFill>
                <a:latin typeface="Calibri"/>
              </a:rPr>
              <a:t>PermisoEspecial pasa de bitmask a EnumSet&lt;PermisoEspecial&gt; — funciona igual, pero hay que tocar cada punto donde se usa.</a:t>
            </a:r>
          </a:p>
          <a:p>
            <a:pPr>
              <a:lnSpc>
                <a:spcPct val="118000"/>
              </a:lnSpc>
              <a:spcAft>
                <a:spcPts val="2016"/>
              </a:spcAft>
            </a:pPr>
            <a:r>
              <a:rPr sz="1350" b="1">
                <a:solidFill>
                  <a:srgbClr val="E87A1E"/>
                </a:solidFill>
                <a:latin typeface="Calibri"/>
              </a:rPr>
              <a:t>▸  </a:t>
            </a:r>
            <a:r>
              <a:rPr sz="1350" b="1">
                <a:solidFill>
                  <a:srgbClr val="1F2A37"/>
                </a:solidFill>
                <a:latin typeface="Calibri"/>
              </a:rPr>
              <a:t>Spring Security explicito. </a:t>
            </a:r>
            <a:r>
              <a:rPr sz="1350" b="0">
                <a:solidFill>
                  <a:srgbClr val="1F2A37"/>
                </a:solidFill>
                <a:latin typeface="Calibri"/>
              </a:rPr>
              <a:t>JWT, filtros y roles se configuran a mano (SecurityFilterChain) en vez del pipeline integrado de ASP.NET.</a:t>
            </a:r>
          </a:p>
        </p:txBody>
      </p:sp>
      <p:sp>
        <p:nvSpPr>
          <p:cNvPr id="8" name="Rectangle 7"/>
          <p:cNvSpPr/>
          <p:nvPr/>
        </p:nvSpPr>
        <p:spPr>
          <a:xfrm>
            <a:off x="548640" y="5349240"/>
            <a:ext cx="10881360" cy="18288"/>
          </a:xfrm>
          <a:prstGeom prst="rect">
            <a:avLst/>
          </a:prstGeom>
          <a:solidFill>
            <a:srgbClr val="E4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5532120"/>
            <a:ext cx="10881360" cy="822960"/>
          </a:xfrm>
          <a:prstGeom prst="rect">
            <a:avLst/>
          </a:prstGeom>
          <a:noFill/>
        </p:spPr>
        <p:txBody>
          <a:bodyPr wrap="square" lIns="0" tIns="0" rIns="0" bIns="0" anchor="t">
            <a:spAutoFit/>
          </a:bodyPr>
          <a:lstStyle/>
          <a:p>
            <a:pPr algn="l">
              <a:lnSpc>
                <a:spcPct val="115000"/>
              </a:lnSpc>
            </a:pPr>
            <a:r>
              <a:rPr sz="1500" b="1" i="1">
                <a:solidFill>
                  <a:srgbClr val="1F2A37"/>
                </a:solidFill>
                <a:latin typeface="Calibri"/>
              </a:rPr>
              <a:t>Todo esto ya se sabia antes de empezar a escribir codigo. Lo que viene ahora no se sabia.</a:t>
            </a:r>
          </a:p>
        </p:txBody>
      </p:sp>
      <p:sp>
        <p:nvSpPr>
          <p:cNvPr id="10" name="TextBox 9"/>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11" name="TextBox 10"/>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188720"/>
            <a:ext cx="10058400" cy="365760"/>
          </a:xfrm>
          <a:prstGeom prst="rect">
            <a:avLst/>
          </a:prstGeom>
          <a:noFill/>
        </p:spPr>
        <p:txBody>
          <a:bodyPr wrap="square" lIns="0" tIns="0" rIns="0" bIns="0" anchor="t">
            <a:spAutoFit/>
          </a:bodyPr>
          <a:lstStyle/>
          <a:p>
            <a:pPr algn="l">
              <a:lnSpc>
                <a:spcPct val="115000"/>
              </a:lnSpc>
            </a:pPr>
            <a:r>
              <a:rPr sz="1400" b="1" i="0">
                <a:solidFill>
                  <a:srgbClr val="DC2626"/>
                </a:solidFill>
                <a:latin typeface="Calibri"/>
              </a:rPr>
              <a:t>EL GIRO DE LA HISTORIA</a:t>
            </a:r>
          </a:p>
        </p:txBody>
      </p:sp>
      <p:sp>
        <p:nvSpPr>
          <p:cNvPr id="5" name="TextBox 4"/>
          <p:cNvSpPr txBox="1"/>
          <p:nvPr/>
        </p:nvSpPr>
        <p:spPr>
          <a:xfrm>
            <a:off x="822960" y="1691640"/>
            <a:ext cx="10515600" cy="1463040"/>
          </a:xfrm>
          <a:prstGeom prst="rect">
            <a:avLst/>
          </a:prstGeom>
          <a:noFill/>
        </p:spPr>
        <p:txBody>
          <a:bodyPr wrap="square" lIns="0" tIns="0" rIns="0" bIns="0" anchor="t">
            <a:spAutoFit/>
          </a:bodyPr>
          <a:lstStyle/>
          <a:p>
            <a:pPr algn="l">
              <a:lnSpc>
                <a:spcPct val="115000"/>
              </a:lnSpc>
            </a:pPr>
            <a:r>
              <a:rPr sz="3000" b="1" i="0">
                <a:solidFill>
                  <a:srgbClr val="FFFFFF"/>
                </a:solidFill>
                <a:latin typeface="Calibri"/>
              </a:rPr>
              <a:t>74 de 74 tests unitarios en verde.</a:t>
            </a:r>
          </a:p>
          <a:p>
            <a:pPr algn="l">
              <a:lnSpc>
                <a:spcPct val="115000"/>
              </a:lnSpc>
            </a:pPr>
            <a:r>
              <a:rPr sz="3000" b="1" i="0">
                <a:solidFill>
                  <a:srgbClr val="FFFFFF"/>
                </a:solidFill>
                <a:latin typeface="Calibri"/>
              </a:rPr>
              <a:t>Todo el proyecto compilaba sin errores.</a:t>
            </a:r>
          </a:p>
          <a:p>
            <a:pPr algn="l">
              <a:lnSpc>
                <a:spcPct val="115000"/>
              </a:lnSpc>
            </a:pPr>
            <a:r>
              <a:rPr sz="3000" b="1" i="0">
                <a:solidFill>
                  <a:srgbClr val="FFFFFF"/>
                </a:solidFill>
                <a:latin typeface="Calibri"/>
              </a:rPr>
              <a:t>¿Listo para producción?</a:t>
            </a:r>
          </a:p>
        </p:txBody>
      </p:sp>
      <p:sp>
        <p:nvSpPr>
          <p:cNvPr id="6" name="Rectangle 5"/>
          <p:cNvSpPr/>
          <p:nvPr/>
        </p:nvSpPr>
        <p:spPr>
          <a:xfrm>
            <a:off x="822960" y="3429000"/>
            <a:ext cx="3017520" cy="3175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3657600"/>
            <a:ext cx="9875520" cy="1463040"/>
          </a:xfrm>
          <a:prstGeom prst="rect">
            <a:avLst/>
          </a:prstGeom>
          <a:noFill/>
        </p:spPr>
        <p:txBody>
          <a:bodyPr wrap="square" lIns="0" tIns="0" rIns="0" bIns="0" anchor="t">
            <a:spAutoFit/>
          </a:bodyPr>
          <a:lstStyle/>
          <a:p>
            <a:pPr algn="l">
              <a:lnSpc>
                <a:spcPct val="135000"/>
              </a:lnSpc>
            </a:pPr>
            <a:r>
              <a:rPr sz="1600" b="0" i="0" dirty="0" err="1">
                <a:solidFill>
                  <a:srgbClr val="D8DEE4"/>
                </a:solidFill>
                <a:latin typeface="Calibri"/>
              </a:rPr>
              <a:t>Un test unitario es un metodo Java que crea un objeto y revisa su comportamiento con asserts — corre en menos de un segundo, sin red, sin base de datos, sin levantar nada. Por eso ninguno de los 74 levanta el backend real (Spring), ninguno abre el navegador, y ninguno prueba que el backend y la base de datos —cada uno en su propio contenedor Docker— se hablen bien entre si.</a:t>
            </a:r>
            <a:endParaRPr lang="es-MX" sz="1600" b="0" i="0" dirty="0">
              <a:solidFill>
                <a:srgbClr val="D8DEE4"/>
              </a:solidFill>
              <a:latin typeface="Calibri"/>
            </a:endParaRPr>
          </a:p>
          <a:p>
            <a:pPr algn="l">
              <a:lnSpc>
                <a:spcPct val="135000"/>
              </a:lnSpc>
            </a:pPr>
            <a:endParaRPr lang="es-ES" sz="1600" b="0" i="0" dirty="0">
              <a:solidFill>
                <a:srgbClr val="D8DEE4"/>
              </a:solidFill>
              <a:latin typeface="Calibri"/>
            </a:endParaRPr>
          </a:p>
          <a:p>
            <a:pPr algn="l">
              <a:lnSpc>
                <a:spcPct val="135000"/>
              </a:lnSpc>
            </a:pPr>
            <a:r>
              <a:rPr lang="es-ES" sz="1600" b="0" i="0" dirty="0">
                <a:solidFill>
                  <a:srgbClr val="D8DEE4"/>
                </a:solidFill>
                <a:latin typeface="Calibri"/>
              </a:rPr>
              <a:t>Los tres errores que siguen solo aparecieron el dia que se levanto todo el sistema de verdad con “docker compose up” y se probo el login desde el navegador — el mismo dia de esta sesion.</a:t>
            </a:r>
          </a:p>
        </p:txBody>
      </p:sp>
      <p:sp>
        <p:nvSpPr>
          <p:cNvPr id="8" name="TextBox 7"/>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9" name="TextBox 8"/>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DC2626"/>
                </a:solidFill>
                <a:latin typeface="Calibri"/>
              </a:rPr>
              <a:t>CASO REAL 1 DE 3</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2600" b="1" i="0">
                <a:solidFill>
                  <a:srgbClr val="1F2A37"/>
                </a:solidFill>
                <a:latin typeface="Calibri"/>
              </a:rPr>
              <a:t>La casa con todos los cuartos pero sin puertas</a:t>
            </a:r>
          </a:p>
        </p:txBody>
      </p:sp>
      <p:sp>
        <p:nvSpPr>
          <p:cNvPr id="5" name="Rectangle 4"/>
          <p:cNvSpPr/>
          <p:nvPr/>
        </p:nvSpPr>
        <p:spPr>
          <a:xfrm>
            <a:off x="502920" y="1554480"/>
            <a:ext cx="640080" cy="406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828800"/>
            <a:ext cx="10881360" cy="1078992"/>
          </a:xfrm>
          <a:prstGeom prst="roundRect">
            <a:avLst>
              <a:gd name="adj" fmla="val 10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28800"/>
            <a:ext cx="53340"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1828800" cy="274320"/>
          </a:xfrm>
          <a:prstGeom prst="rect">
            <a:avLst/>
          </a:prstGeom>
          <a:noFill/>
        </p:spPr>
        <p:txBody>
          <a:bodyPr wrap="square" lIns="0" tIns="0" rIns="0" bIns="0" anchor="t">
            <a:spAutoFit/>
          </a:bodyPr>
          <a:lstStyle/>
          <a:p>
            <a:pPr algn="l">
              <a:lnSpc>
                <a:spcPct val="115000"/>
              </a:lnSpc>
            </a:pPr>
            <a:r>
              <a:rPr sz="1100" b="1" i="0">
                <a:solidFill>
                  <a:srgbClr val="DC2626"/>
                </a:solidFill>
                <a:latin typeface="Calibri"/>
              </a:rPr>
              <a:t>EL SINTOMA</a:t>
            </a:r>
          </a:p>
        </p:txBody>
      </p:sp>
      <p:sp>
        <p:nvSpPr>
          <p:cNvPr id="9" name="TextBox 8"/>
          <p:cNvSpPr txBox="1"/>
          <p:nvPr/>
        </p:nvSpPr>
        <p:spPr>
          <a:xfrm>
            <a:off x="868680" y="2176272"/>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Promociones y Clientes/Seguros/Credito tenían controllers, casos de uso y adaptadores de persistencia completos — pero el backend jamás hubiera podido arrancar.</a:t>
            </a:r>
          </a:p>
        </p:txBody>
      </p:sp>
      <p:sp>
        <p:nvSpPr>
          <p:cNvPr id="10" name="Rounded Rectangle 9"/>
          <p:cNvSpPr/>
          <p:nvPr/>
        </p:nvSpPr>
        <p:spPr>
          <a:xfrm>
            <a:off x="548640" y="3054096"/>
            <a:ext cx="10881360" cy="1078992"/>
          </a:xfrm>
          <a:prstGeom prst="roundRect">
            <a:avLst>
              <a:gd name="adj" fmla="val 1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3054096"/>
            <a:ext cx="53340" cy="1078992"/>
          </a:xfrm>
          <a:prstGeom prst="rect">
            <a:avLst/>
          </a:prstGeom>
          <a:solidFill>
            <a:srgbClr val="B460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145536"/>
            <a:ext cx="1828800" cy="274320"/>
          </a:xfrm>
          <a:prstGeom prst="rect">
            <a:avLst/>
          </a:prstGeom>
          <a:noFill/>
        </p:spPr>
        <p:txBody>
          <a:bodyPr wrap="square" lIns="0" tIns="0" rIns="0" bIns="0" anchor="t">
            <a:spAutoFit/>
          </a:bodyPr>
          <a:lstStyle/>
          <a:p>
            <a:pPr algn="l">
              <a:lnSpc>
                <a:spcPct val="115000"/>
              </a:lnSpc>
            </a:pPr>
            <a:r>
              <a:rPr sz="1100" b="1" i="0">
                <a:solidFill>
                  <a:srgbClr val="B46006"/>
                </a:solidFill>
                <a:latin typeface="Calibri"/>
              </a:rPr>
              <a:t>LA CAUSA REAL</a:t>
            </a:r>
          </a:p>
        </p:txBody>
      </p:sp>
      <p:sp>
        <p:nvSpPr>
          <p:cNvPr id="13" name="TextBox 12"/>
          <p:cNvSpPr txBox="1"/>
          <p:nvPr/>
        </p:nvSpPr>
        <p:spPr>
          <a:xfrm>
            <a:off x="868680" y="3401568"/>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Le faltaba la “lista de conexiones”: la clase que le dice a Spring (el framework que arranca y conecta todo el backend) qué implementación real usar para cada caso de uso —en Spring esto se llama un @Bean. Sin esa lista el código compila igual (Java no revisa en tiempo de compilación si algo quedó sin conectar), pero Spring no tiene con qué arrancar esos 15 casos de uso.</a:t>
            </a:r>
          </a:p>
        </p:txBody>
      </p:sp>
      <p:sp>
        <p:nvSpPr>
          <p:cNvPr id="14" name="Rounded Rectangle 13"/>
          <p:cNvSpPr/>
          <p:nvPr/>
        </p:nvSpPr>
        <p:spPr>
          <a:xfrm>
            <a:off x="548640" y="4279392"/>
            <a:ext cx="10881360" cy="1078992"/>
          </a:xfrm>
          <a:prstGeom prst="roundRect">
            <a:avLst>
              <a:gd name="adj" fmla="val 10000"/>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4279392"/>
            <a:ext cx="53340" cy="1078992"/>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4370832"/>
            <a:ext cx="1828800" cy="274320"/>
          </a:xfrm>
          <a:prstGeom prst="rect">
            <a:avLst/>
          </a:prstGeom>
          <a:noFill/>
        </p:spPr>
        <p:txBody>
          <a:bodyPr wrap="square" lIns="0" tIns="0" rIns="0" bIns="0" anchor="t">
            <a:spAutoFit/>
          </a:bodyPr>
          <a:lstStyle/>
          <a:p>
            <a:pPr algn="l">
              <a:lnSpc>
                <a:spcPct val="115000"/>
              </a:lnSpc>
            </a:pPr>
            <a:r>
              <a:rPr sz="1100" b="1" i="0">
                <a:solidFill>
                  <a:srgbClr val="16A34A"/>
                </a:solidFill>
                <a:latin typeface="Calibri"/>
              </a:rPr>
              <a:t>LA SOLUCION</a:t>
            </a:r>
          </a:p>
        </p:txBody>
      </p:sp>
      <p:sp>
        <p:nvSpPr>
          <p:cNvPr id="17" name="TextBox 16"/>
          <p:cNvSpPr txBox="1"/>
          <p:nvPr/>
        </p:nvSpPr>
        <p:spPr>
          <a:xfrm>
            <a:off x="868680" y="4626864"/>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Se creó esa lista de conexiones que faltaba (PromocionUseCaseConfiguration y ClienteSeguroCreditoUseCaseConfiguration) y se revisó una por una que ninguna otra interfaz de caso de uso se hubiera quedado sin su implementación conectada.</a:t>
            </a:r>
          </a:p>
        </p:txBody>
      </p:sp>
      <p:sp>
        <p:nvSpPr>
          <p:cNvPr id="18" name="TextBox 17"/>
          <p:cNvSpPr txBox="1"/>
          <p:nvPr/>
        </p:nvSpPr>
        <p:spPr>
          <a:xfrm>
            <a:off x="548640" y="5550408"/>
            <a:ext cx="10881360" cy="640080"/>
          </a:xfrm>
          <a:prstGeom prst="rect">
            <a:avLst/>
          </a:prstGeom>
          <a:noFill/>
        </p:spPr>
        <p:txBody>
          <a:bodyPr wrap="square" lIns="0" tIns="0" rIns="0" bIns="0" anchor="t">
            <a:spAutoFit/>
          </a:bodyPr>
          <a:lstStyle/>
          <a:p>
            <a:pPr algn="l">
              <a:lnSpc>
                <a:spcPct val="120000"/>
              </a:lnSpc>
            </a:pPr>
            <a:r>
              <a:rPr sz="1450" b="0" i="1">
                <a:solidFill>
                  <a:srgbClr val="667085"/>
                </a:solidFill>
                <a:latin typeface="Calibri"/>
              </a:rPr>
              <a:t>“Compila” y “funciona” son promesas distintas en Hexagonal: el compilador solo vigila los puertos, nunca revisa si alguien conectó el cable del otro lado.</a:t>
            </a:r>
          </a:p>
        </p:txBody>
      </p:sp>
      <p:sp>
        <p:nvSpPr>
          <p:cNvPr id="19" name="TextBox 1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0" name="TextBox 1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DC2626"/>
                </a:solidFill>
                <a:latin typeface="Calibri"/>
              </a:rPr>
              <a:t>CASO REAL 2 DE 3</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2600" b="1" i="0">
                <a:solidFill>
                  <a:srgbClr val="1F2A37"/>
                </a:solidFill>
                <a:latin typeface="Calibri"/>
              </a:rPr>
              <a:t>El piso se movio mientras caminabamos</a:t>
            </a:r>
          </a:p>
        </p:txBody>
      </p:sp>
      <p:sp>
        <p:nvSpPr>
          <p:cNvPr id="5" name="Rectangle 4"/>
          <p:cNvSpPr/>
          <p:nvPr/>
        </p:nvSpPr>
        <p:spPr>
          <a:xfrm>
            <a:off x="502920" y="1554480"/>
            <a:ext cx="640080" cy="406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828800"/>
            <a:ext cx="10881360" cy="1078992"/>
          </a:xfrm>
          <a:prstGeom prst="roundRect">
            <a:avLst>
              <a:gd name="adj" fmla="val 10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28800"/>
            <a:ext cx="53340"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1828800" cy="274320"/>
          </a:xfrm>
          <a:prstGeom prst="rect">
            <a:avLst/>
          </a:prstGeom>
          <a:noFill/>
        </p:spPr>
        <p:txBody>
          <a:bodyPr wrap="square" lIns="0" tIns="0" rIns="0" bIns="0" anchor="t">
            <a:spAutoFit/>
          </a:bodyPr>
          <a:lstStyle/>
          <a:p>
            <a:pPr algn="l">
              <a:lnSpc>
                <a:spcPct val="115000"/>
              </a:lnSpc>
            </a:pPr>
            <a:r>
              <a:rPr sz="1100" b="1" i="0">
                <a:solidFill>
                  <a:srgbClr val="DC2626"/>
                </a:solidFill>
                <a:latin typeface="Calibri"/>
              </a:rPr>
              <a:t>EL SINTOMA</a:t>
            </a:r>
          </a:p>
        </p:txBody>
      </p:sp>
      <p:sp>
        <p:nvSpPr>
          <p:cNvPr id="9" name="TextBox 8"/>
          <p:cNvSpPr txBox="1"/>
          <p:nvPr/>
        </p:nvSpPr>
        <p:spPr>
          <a:xfrm>
            <a:off x="868680" y="2176272"/>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El backend fallaba al arrancar con un error de base de datos (“missing table [...]”) — como si las 8 migraciones (los scripts que crean las tablas) nunca hubieran existido.</a:t>
            </a:r>
          </a:p>
        </p:txBody>
      </p:sp>
      <p:sp>
        <p:nvSpPr>
          <p:cNvPr id="10" name="Rounded Rectangle 9"/>
          <p:cNvSpPr/>
          <p:nvPr/>
        </p:nvSpPr>
        <p:spPr>
          <a:xfrm>
            <a:off x="548640" y="3054096"/>
            <a:ext cx="10881360" cy="1078992"/>
          </a:xfrm>
          <a:prstGeom prst="roundRect">
            <a:avLst>
              <a:gd name="adj" fmla="val 1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3054096"/>
            <a:ext cx="53340" cy="1078992"/>
          </a:xfrm>
          <a:prstGeom prst="rect">
            <a:avLst/>
          </a:prstGeom>
          <a:solidFill>
            <a:srgbClr val="B460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145536"/>
            <a:ext cx="1828800" cy="274320"/>
          </a:xfrm>
          <a:prstGeom prst="rect">
            <a:avLst/>
          </a:prstGeom>
          <a:noFill/>
        </p:spPr>
        <p:txBody>
          <a:bodyPr wrap="square" lIns="0" tIns="0" rIns="0" bIns="0" anchor="t">
            <a:spAutoFit/>
          </a:bodyPr>
          <a:lstStyle/>
          <a:p>
            <a:pPr algn="l">
              <a:lnSpc>
                <a:spcPct val="115000"/>
              </a:lnSpc>
            </a:pPr>
            <a:r>
              <a:rPr sz="1100" b="1" i="0">
                <a:solidFill>
                  <a:srgbClr val="B46006"/>
                </a:solidFill>
                <a:latin typeface="Calibri"/>
              </a:rPr>
              <a:t>LA CAUSA REAL</a:t>
            </a:r>
          </a:p>
        </p:txBody>
      </p:sp>
      <p:sp>
        <p:nvSpPr>
          <p:cNvPr id="13" name="TextBox 12"/>
          <p:cNvSpPr txBox="1"/>
          <p:nvPr/>
        </p:nvSpPr>
        <p:spPr>
          <a:xfrm>
            <a:off x="868680" y="3401568"/>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Flyway es la herramienta que aplica automáticamente esos scripts de base de datos cada vez que arranca el backend. Bastaba con tener su librería agregada al proyecto para que Spring la activara sola —hasta la nueva versión de Spring Boot (4.x), que ahora exige agregar una librería adicional explícita para activarla. El proyecto compilaba perfecto — solo que ya nadie ejecutaba esos scripts al arrancar.</a:t>
            </a:r>
          </a:p>
        </p:txBody>
      </p:sp>
      <p:sp>
        <p:nvSpPr>
          <p:cNvPr id="14" name="Rounded Rectangle 13"/>
          <p:cNvSpPr/>
          <p:nvPr/>
        </p:nvSpPr>
        <p:spPr>
          <a:xfrm>
            <a:off x="548640" y="4279392"/>
            <a:ext cx="10881360" cy="1078992"/>
          </a:xfrm>
          <a:prstGeom prst="roundRect">
            <a:avLst>
              <a:gd name="adj" fmla="val 10000"/>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4279392"/>
            <a:ext cx="53340" cy="1078992"/>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4370832"/>
            <a:ext cx="1828800" cy="274320"/>
          </a:xfrm>
          <a:prstGeom prst="rect">
            <a:avLst/>
          </a:prstGeom>
          <a:noFill/>
        </p:spPr>
        <p:txBody>
          <a:bodyPr wrap="square" lIns="0" tIns="0" rIns="0" bIns="0" anchor="t">
            <a:spAutoFit/>
          </a:bodyPr>
          <a:lstStyle/>
          <a:p>
            <a:pPr algn="l">
              <a:lnSpc>
                <a:spcPct val="115000"/>
              </a:lnSpc>
            </a:pPr>
            <a:r>
              <a:rPr sz="1100" b="1" i="0">
                <a:solidFill>
                  <a:srgbClr val="16A34A"/>
                </a:solidFill>
                <a:latin typeface="Calibri"/>
              </a:rPr>
              <a:t>LA SOLUCION</a:t>
            </a:r>
          </a:p>
        </p:txBody>
      </p:sp>
      <p:sp>
        <p:nvSpPr>
          <p:cNvPr id="17" name="TextBox 16"/>
          <p:cNvSpPr txBox="1"/>
          <p:nvPr/>
        </p:nvSpPr>
        <p:spPr>
          <a:xfrm>
            <a:off x="868680" y="4626864"/>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Se cambió una sola línea en el archivo de dependencias (pom.xml) del módulo de persistencia: la librería flyway-core por spring-boot-starter-flyway. Cero líneas de código Java tocadas.</a:t>
            </a:r>
          </a:p>
        </p:txBody>
      </p:sp>
      <p:sp>
        <p:nvSpPr>
          <p:cNvPr id="18" name="TextBox 17"/>
          <p:cNvSpPr txBox="1"/>
          <p:nvPr/>
        </p:nvSpPr>
        <p:spPr>
          <a:xfrm>
            <a:off x="548640" y="5550408"/>
            <a:ext cx="10881360" cy="640080"/>
          </a:xfrm>
          <a:prstGeom prst="rect">
            <a:avLst/>
          </a:prstGeom>
          <a:noFill/>
        </p:spPr>
        <p:txBody>
          <a:bodyPr wrap="square" lIns="0" tIns="0" rIns="0" bIns="0" anchor="t">
            <a:spAutoFit/>
          </a:bodyPr>
          <a:lstStyle/>
          <a:p>
            <a:pPr algn="l">
              <a:lnSpc>
                <a:spcPct val="120000"/>
              </a:lnSpc>
            </a:pPr>
            <a:r>
              <a:rPr sz="1450" b="0" i="1">
                <a:solidFill>
                  <a:srgbClr val="667085"/>
                </a:solidFill>
                <a:latin typeface="Calibri"/>
              </a:rPr>
              <a:t>No es un error de quien migró: es el framework (Spring) cambiando sus reglas por defecto en una versión mayor, justo mientras se armaba el proyecto encima.</a:t>
            </a:r>
          </a:p>
        </p:txBody>
      </p:sp>
      <p:sp>
        <p:nvSpPr>
          <p:cNvPr id="19" name="TextBox 1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0" name="TextBox 1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DC2626"/>
                </a:solidFill>
                <a:latin typeface="Calibri"/>
              </a:rPr>
              <a:t>CASO REAL 3 DE 3</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2600" b="1" i="0">
                <a:solidFill>
                  <a:srgbClr val="1F2A37"/>
                </a:solidFill>
                <a:latin typeface="Calibri"/>
              </a:rPr>
              <a:t>El bug que solo Postgres sabia esconder</a:t>
            </a:r>
          </a:p>
        </p:txBody>
      </p:sp>
      <p:sp>
        <p:nvSpPr>
          <p:cNvPr id="5" name="Rectangle 4"/>
          <p:cNvSpPr/>
          <p:nvPr/>
        </p:nvSpPr>
        <p:spPr>
          <a:xfrm>
            <a:off x="502920" y="1554480"/>
            <a:ext cx="640080" cy="406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828800"/>
            <a:ext cx="10881360" cy="1078992"/>
          </a:xfrm>
          <a:prstGeom prst="roundRect">
            <a:avLst>
              <a:gd name="adj" fmla="val 10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28800"/>
            <a:ext cx="53340"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1828800" cy="274320"/>
          </a:xfrm>
          <a:prstGeom prst="rect">
            <a:avLst/>
          </a:prstGeom>
          <a:noFill/>
        </p:spPr>
        <p:txBody>
          <a:bodyPr wrap="square" lIns="0" tIns="0" rIns="0" bIns="0" anchor="t">
            <a:spAutoFit/>
          </a:bodyPr>
          <a:lstStyle/>
          <a:p>
            <a:pPr algn="l">
              <a:lnSpc>
                <a:spcPct val="115000"/>
              </a:lnSpc>
            </a:pPr>
            <a:r>
              <a:rPr sz="1100" b="1" i="0">
                <a:solidFill>
                  <a:srgbClr val="DC2626"/>
                </a:solidFill>
                <a:latin typeface="Calibri"/>
              </a:rPr>
              <a:t>EL SINTOMA</a:t>
            </a:r>
          </a:p>
        </p:txBody>
      </p:sp>
      <p:sp>
        <p:nvSpPr>
          <p:cNvPr id="9" name="TextBox 8"/>
          <p:cNvSpPr txBox="1"/>
          <p:nvPr/>
        </p:nvSpPr>
        <p:spPr>
          <a:xfrm>
            <a:off x="868680" y="2176272"/>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La petición GET /api/productos (listar productos) devolvía error 500 con “function lower(bytea) does not exist” — justo el caso más común: buscar sin escribir texto de filtro.</a:t>
            </a:r>
          </a:p>
        </p:txBody>
      </p:sp>
      <p:sp>
        <p:nvSpPr>
          <p:cNvPr id="10" name="Rounded Rectangle 9"/>
          <p:cNvSpPr/>
          <p:nvPr/>
        </p:nvSpPr>
        <p:spPr>
          <a:xfrm>
            <a:off x="548640" y="3054096"/>
            <a:ext cx="10881360" cy="1078992"/>
          </a:xfrm>
          <a:prstGeom prst="roundRect">
            <a:avLst>
              <a:gd name="adj" fmla="val 1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3054096"/>
            <a:ext cx="53340" cy="1078992"/>
          </a:xfrm>
          <a:prstGeom prst="rect">
            <a:avLst/>
          </a:prstGeom>
          <a:solidFill>
            <a:srgbClr val="B460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145536"/>
            <a:ext cx="1828800" cy="274320"/>
          </a:xfrm>
          <a:prstGeom prst="rect">
            <a:avLst/>
          </a:prstGeom>
          <a:noFill/>
        </p:spPr>
        <p:txBody>
          <a:bodyPr wrap="square" lIns="0" tIns="0" rIns="0" bIns="0" anchor="t">
            <a:spAutoFit/>
          </a:bodyPr>
          <a:lstStyle/>
          <a:p>
            <a:pPr algn="l">
              <a:lnSpc>
                <a:spcPct val="115000"/>
              </a:lnSpc>
            </a:pPr>
            <a:r>
              <a:rPr sz="1100" b="1" i="0">
                <a:solidFill>
                  <a:srgbClr val="B46006"/>
                </a:solidFill>
                <a:latin typeface="Calibri"/>
              </a:rPr>
              <a:t>LA CAUSA REAL</a:t>
            </a:r>
          </a:p>
        </p:txBody>
      </p:sp>
      <p:sp>
        <p:nvSpPr>
          <p:cNvPr id="13" name="TextBox 12"/>
          <p:cNvSpPr txBox="1"/>
          <p:nvPr/>
        </p:nvSpPr>
        <p:spPr>
          <a:xfrm>
            <a:off x="868680" y="3401568"/>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La consulta armaba el texto de búsqueda con lower(concat('%', :texto, '%')) directamente en SQL. Cuando el filtro llega vacío (null), el conector que conecta Java con Postgres (JDBC) no logra adivinar de qué tipo es ese null dentro de concat()/lower(), y por defecto lo trata como dato binario (bytea) — y Postgres no tiene una función lower() para datos binarios.</a:t>
            </a:r>
          </a:p>
        </p:txBody>
      </p:sp>
      <p:sp>
        <p:nvSpPr>
          <p:cNvPr id="14" name="Rounded Rectangle 13"/>
          <p:cNvSpPr/>
          <p:nvPr/>
        </p:nvSpPr>
        <p:spPr>
          <a:xfrm>
            <a:off x="548640" y="4279392"/>
            <a:ext cx="10881360" cy="1078992"/>
          </a:xfrm>
          <a:prstGeom prst="roundRect">
            <a:avLst>
              <a:gd name="adj" fmla="val 10000"/>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4279392"/>
            <a:ext cx="53340" cy="1078992"/>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4370832"/>
            <a:ext cx="1828800" cy="274320"/>
          </a:xfrm>
          <a:prstGeom prst="rect">
            <a:avLst/>
          </a:prstGeom>
          <a:noFill/>
        </p:spPr>
        <p:txBody>
          <a:bodyPr wrap="square" lIns="0" tIns="0" rIns="0" bIns="0" anchor="t">
            <a:spAutoFit/>
          </a:bodyPr>
          <a:lstStyle/>
          <a:p>
            <a:pPr algn="l">
              <a:lnSpc>
                <a:spcPct val="115000"/>
              </a:lnSpc>
            </a:pPr>
            <a:r>
              <a:rPr sz="1100" b="1" i="0">
                <a:solidFill>
                  <a:srgbClr val="16A34A"/>
                </a:solidFill>
                <a:latin typeface="Calibri"/>
              </a:rPr>
              <a:t>LA SOLUCION</a:t>
            </a:r>
          </a:p>
        </p:txBody>
      </p:sp>
      <p:sp>
        <p:nvSpPr>
          <p:cNvPr id="17" name="TextBox 16"/>
          <p:cNvSpPr txBox="1"/>
          <p:nvPr/>
        </p:nvSpPr>
        <p:spPr>
          <a:xfrm>
            <a:off x="868680" y="4626864"/>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Se armó el patrón %texto% ya en minúsculas del lado de Java (no en SQL), y se envió como un solo parámetro de texto usado directo en el LIKE — sin concat() ni lower() en la consulta SQL.</a:t>
            </a:r>
          </a:p>
        </p:txBody>
      </p:sp>
      <p:sp>
        <p:nvSpPr>
          <p:cNvPr id="18" name="TextBox 17"/>
          <p:cNvSpPr txBox="1"/>
          <p:nvPr/>
        </p:nvSpPr>
        <p:spPr>
          <a:xfrm>
            <a:off x="548640" y="5550408"/>
            <a:ext cx="10881360" cy="640080"/>
          </a:xfrm>
          <a:prstGeom prst="rect">
            <a:avLst/>
          </a:prstGeom>
          <a:noFill/>
        </p:spPr>
        <p:txBody>
          <a:bodyPr wrap="square" lIns="0" tIns="0" rIns="0" bIns="0" anchor="t">
            <a:spAutoFit/>
          </a:bodyPr>
          <a:lstStyle/>
          <a:p>
            <a:pPr algn="l">
              <a:lnSpc>
                <a:spcPct val="120000"/>
              </a:lnSpc>
            </a:pPr>
            <a:r>
              <a:rPr sz="1450" b="0" i="1">
                <a:solidFill>
                  <a:srgbClr val="667085"/>
                </a:solidFill>
                <a:latin typeface="Calibri"/>
              </a:rPr>
              <a:t>Este bug es especifico de Postgres: con otro motor de base de datos ni siquiera hubiera aparecido — hubiera aparecido OTRO, distinto e igual de impredecible.</a:t>
            </a:r>
          </a:p>
        </p:txBody>
      </p:sp>
      <p:sp>
        <p:nvSpPr>
          <p:cNvPr id="19" name="TextBox 1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0" name="TextBox 1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Y LAS COSTURAS MAS CHICAS</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Mas rapidas de arreglar, igual de invisibles hasta probarlas</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920240"/>
            <a:ext cx="10881360" cy="160020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920240"/>
            <a:ext cx="53340" cy="16002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103120"/>
            <a:ext cx="10058400" cy="365760"/>
          </a:xfrm>
          <a:prstGeom prst="rect">
            <a:avLst/>
          </a:prstGeom>
          <a:noFill/>
        </p:spPr>
        <p:txBody>
          <a:bodyPr wrap="square" lIns="0" tIns="0" rIns="0" bIns="0" anchor="t">
            <a:spAutoFit/>
          </a:bodyPr>
          <a:lstStyle/>
          <a:p>
            <a:pPr algn="l">
              <a:lnSpc>
                <a:spcPct val="115000"/>
              </a:lnSpc>
            </a:pPr>
            <a:r>
              <a:rPr sz="1600" b="1" i="0">
                <a:solidFill>
                  <a:srgbClr val="1F2A37"/>
                </a:solidFill>
                <a:latin typeface="Calibri"/>
              </a:rPr>
              <a:t>Sin CORS configurado</a:t>
            </a:r>
          </a:p>
        </p:txBody>
      </p:sp>
      <p:sp>
        <p:nvSpPr>
          <p:cNvPr id="9" name="TextBox 8"/>
          <p:cNvSpPr txBox="1"/>
          <p:nvPr/>
        </p:nvSpPr>
        <p:spPr>
          <a:xfrm>
            <a:off x="868680" y="2542032"/>
            <a:ext cx="10149840" cy="868680"/>
          </a:xfrm>
          <a:prstGeom prst="rect">
            <a:avLst/>
          </a:prstGeom>
          <a:noFill/>
        </p:spPr>
        <p:txBody>
          <a:bodyPr wrap="square" lIns="0" tIns="0" rIns="0" bIns="0" anchor="t">
            <a:spAutoFit/>
          </a:bodyPr>
          <a:lstStyle/>
          <a:p>
            <a:pPr algn="l">
              <a:lnSpc>
                <a:spcPct val="125000"/>
              </a:lnSpc>
            </a:pPr>
            <a:r>
              <a:rPr sz="1300" b="0" i="0">
                <a:solidFill>
                  <a:srgbClr val="667085"/>
                </a:solidFill>
                <a:latin typeface="Calibri"/>
              </a:rPr>
              <a:t>El frontend (localhost:5173) y el backend (localhost:8088) son direcciones distintas para el navegador. Por seguridad, el navegador bloquea por defecto que una página pida datos a otra dirección si el backend no lo autoriza explícitamente (esto se llama CORS). Sin esa autorización, el navegador rechazaba toda petición. El proyecto .NET original sí la tenía configurada (Program.cs).</a:t>
            </a:r>
          </a:p>
        </p:txBody>
      </p:sp>
      <p:sp>
        <p:nvSpPr>
          <p:cNvPr id="10" name="Rounded Rectangle 9"/>
          <p:cNvSpPr/>
          <p:nvPr/>
        </p:nvSpPr>
        <p:spPr>
          <a:xfrm>
            <a:off x="548640" y="3749040"/>
            <a:ext cx="10881360" cy="160020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3749040"/>
            <a:ext cx="53340" cy="160020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931920"/>
            <a:ext cx="10058400" cy="365760"/>
          </a:xfrm>
          <a:prstGeom prst="rect">
            <a:avLst/>
          </a:prstGeom>
          <a:noFill/>
        </p:spPr>
        <p:txBody>
          <a:bodyPr wrap="square" lIns="0" tIns="0" rIns="0" bIns="0" anchor="t">
            <a:spAutoFit/>
          </a:bodyPr>
          <a:lstStyle/>
          <a:p>
            <a:pPr algn="l">
              <a:lnSpc>
                <a:spcPct val="115000"/>
              </a:lnSpc>
            </a:pPr>
            <a:r>
              <a:rPr sz="1600" b="1" i="0">
                <a:solidFill>
                  <a:srgbClr val="1F2A37"/>
                </a:solidFill>
                <a:latin typeface="Calibri"/>
              </a:rPr>
              <a:t>Rutas /api/v1/... vs /api/...</a:t>
            </a:r>
          </a:p>
        </p:txBody>
      </p:sp>
      <p:sp>
        <p:nvSpPr>
          <p:cNvPr id="13" name="TextBox 12"/>
          <p:cNvSpPr txBox="1"/>
          <p:nvPr/>
        </p:nvSpPr>
        <p:spPr>
          <a:xfrm>
            <a:off x="868680" y="4370832"/>
            <a:ext cx="10149840" cy="231538"/>
          </a:xfrm>
          <a:prstGeom prst="rect">
            <a:avLst/>
          </a:prstGeom>
          <a:noFill/>
        </p:spPr>
        <p:txBody>
          <a:bodyPr wrap="square" lIns="0" tIns="0" rIns="0" bIns="0" anchor="t">
            <a:spAutoFit/>
          </a:bodyPr>
          <a:lstStyle/>
          <a:p>
            <a:pPr algn="l">
              <a:lnSpc>
                <a:spcPct val="125000"/>
              </a:lnSpc>
            </a:pPr>
            <a:r>
              <a:rPr sz="1300" b="0" i="0" dirty="0">
                <a:solidFill>
                  <a:srgbClr val="667085"/>
                </a:solidFill>
                <a:latin typeface="Calibri"/>
              </a:rPr>
              <a:t>5 de 8 </a:t>
            </a:r>
            <a:r>
              <a:rPr sz="1300" b="0" i="0" dirty="0" err="1">
                <a:solidFill>
                  <a:srgbClr val="667085"/>
                </a:solidFill>
                <a:latin typeface="Calibri"/>
              </a:rPr>
              <a:t>contextos</a:t>
            </a:r>
            <a:r>
              <a:rPr sz="1300" b="0" i="0" dirty="0">
                <a:solidFill>
                  <a:srgbClr val="667085"/>
                </a:solidFill>
                <a:latin typeface="Calibri"/>
              </a:rPr>
              <a:t> se </a:t>
            </a:r>
            <a:r>
              <a:rPr sz="1300" b="0" i="0" dirty="0" err="1">
                <a:solidFill>
                  <a:srgbClr val="667085"/>
                </a:solidFill>
                <a:latin typeface="Calibri"/>
              </a:rPr>
              <a:t>implementaron</a:t>
            </a:r>
            <a:r>
              <a:rPr sz="1300" b="0" i="0" dirty="0">
                <a:solidFill>
                  <a:srgbClr val="667085"/>
                </a:solidFill>
                <a:latin typeface="Calibri"/>
              </a:rPr>
              <a:t> con el </a:t>
            </a:r>
            <a:r>
              <a:rPr sz="1300" b="0" i="0" dirty="0" err="1">
                <a:solidFill>
                  <a:srgbClr val="667085"/>
                </a:solidFill>
                <a:latin typeface="Calibri"/>
              </a:rPr>
              <a:t>prefijo</a:t>
            </a:r>
            <a:r>
              <a:rPr sz="1300" b="0" i="0" dirty="0">
                <a:solidFill>
                  <a:srgbClr val="667085"/>
                </a:solidFill>
                <a:latin typeface="Calibri"/>
              </a:rPr>
              <a:t> </a:t>
            </a:r>
            <a:r>
              <a:rPr sz="1300" b="0" i="0" dirty="0" err="1">
                <a:solidFill>
                  <a:srgbClr val="667085"/>
                </a:solidFill>
                <a:latin typeface="Calibri"/>
              </a:rPr>
              <a:t>minimo</a:t>
            </a:r>
            <a:r>
              <a:rPr sz="1300" b="0" i="0" dirty="0">
                <a:solidFill>
                  <a:srgbClr val="667085"/>
                </a:solidFill>
                <a:latin typeface="Calibri"/>
              </a:rPr>
              <a:t> del Word (/</a:t>
            </a:r>
            <a:r>
              <a:rPr sz="1300" b="0" i="0" dirty="0" err="1">
                <a:solidFill>
                  <a:srgbClr val="667085"/>
                </a:solidFill>
                <a:latin typeface="Calibri"/>
              </a:rPr>
              <a:t>api</a:t>
            </a:r>
            <a:r>
              <a:rPr sz="1300" b="0" i="0" dirty="0">
                <a:solidFill>
                  <a:srgbClr val="667085"/>
                </a:solidFill>
                <a:latin typeface="Calibri"/>
              </a:rPr>
              <a:t>/v1/...), </a:t>
            </a:r>
            <a:r>
              <a:rPr sz="1300" b="0" i="0" dirty="0" err="1">
                <a:solidFill>
                  <a:srgbClr val="667085"/>
                </a:solidFill>
                <a:latin typeface="Calibri"/>
              </a:rPr>
              <a:t>pero</a:t>
            </a:r>
            <a:r>
              <a:rPr sz="1300" b="0" i="0" dirty="0">
                <a:solidFill>
                  <a:srgbClr val="667085"/>
                </a:solidFill>
                <a:latin typeface="Calibri"/>
              </a:rPr>
              <a:t> el frontend real llama /</a:t>
            </a:r>
            <a:r>
              <a:rPr sz="1300" b="0" i="0" dirty="0" err="1">
                <a:solidFill>
                  <a:srgbClr val="667085"/>
                </a:solidFill>
                <a:latin typeface="Calibri"/>
              </a:rPr>
              <a:t>api</a:t>
            </a:r>
            <a:r>
              <a:rPr sz="1300" b="0" i="0" dirty="0">
                <a:solidFill>
                  <a:srgbClr val="667085"/>
                </a:solidFill>
                <a:latin typeface="Calibri"/>
              </a:rPr>
              <a:t>/... sin version</a:t>
            </a:r>
          </a:p>
        </p:txBody>
      </p:sp>
      <p:sp>
        <p:nvSpPr>
          <p:cNvPr id="14" name="TextBox 13"/>
          <p:cNvSpPr txBox="1"/>
          <p:nvPr/>
        </p:nvSpPr>
        <p:spPr>
          <a:xfrm>
            <a:off x="548640" y="5623560"/>
            <a:ext cx="10881360" cy="548640"/>
          </a:xfrm>
          <a:prstGeom prst="rect">
            <a:avLst/>
          </a:prstGeom>
          <a:noFill/>
        </p:spPr>
        <p:txBody>
          <a:bodyPr wrap="square" lIns="0" tIns="0" rIns="0" bIns="0" anchor="t">
            <a:spAutoFit/>
          </a:bodyPr>
          <a:lstStyle/>
          <a:p>
            <a:pPr algn="l">
              <a:lnSpc>
                <a:spcPct val="115000"/>
              </a:lnSpc>
            </a:pPr>
            <a:r>
              <a:rPr sz="1450" b="0" i="1">
                <a:solidFill>
                  <a:srgbClr val="667085"/>
                </a:solidFill>
                <a:latin typeface="Calibri"/>
              </a:rPr>
              <a:t>Ninguno de los dos rompia un test unitario. Los dos rompian el primer clic real en el navegador.</a:t>
            </a:r>
          </a:p>
        </p:txBody>
      </p:sp>
      <p:sp>
        <p:nvSpPr>
          <p:cNvPr id="15" name="TextBox 14"/>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16" name="TextBox 15"/>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EL EJE QUE NO TOCAMOS</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¿Y si tambien migrabamos de PostgreSQL a SQL Server?</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691640"/>
            <a:ext cx="10881360" cy="502920"/>
          </a:xfrm>
          <a:prstGeom prst="rect">
            <a:avLst/>
          </a:prstGeom>
          <a:noFill/>
        </p:spPr>
        <p:txBody>
          <a:bodyPr wrap="square" lIns="0" tIns="0" rIns="0" bIns="0" anchor="t">
            <a:spAutoFit/>
          </a:bodyPr>
          <a:lstStyle/>
          <a:p>
            <a:pPr algn="l">
              <a:lnSpc>
                <a:spcPct val="115000"/>
              </a:lnSpc>
            </a:pPr>
            <a:r>
              <a:rPr sz="1350" b="0" i="1">
                <a:solidFill>
                  <a:srgbClr val="667085"/>
                </a:solidFill>
                <a:latin typeface="Calibri"/>
              </a:rPr>
              <a:t>El Word original sugeria SQL Server. El proyecto lo descarto a proposito. Esto es lo que hubiera costado, en concreto:</a:t>
            </a:r>
          </a:p>
        </p:txBody>
      </p:sp>
      <p:sp>
        <p:nvSpPr>
          <p:cNvPr id="7" name="Rounded Rectangle 6"/>
          <p:cNvSpPr/>
          <p:nvPr/>
        </p:nvSpPr>
        <p:spPr>
          <a:xfrm>
            <a:off x="548640" y="2331720"/>
            <a:ext cx="10881360" cy="914400"/>
          </a:xfrm>
          <a:prstGeom prst="roundRect">
            <a:avLst>
              <a:gd name="adj" fmla="val 1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2331720"/>
            <a:ext cx="53340" cy="9144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2423160"/>
            <a:ext cx="10332720" cy="292608"/>
          </a:xfrm>
          <a:prstGeom prst="rect">
            <a:avLst/>
          </a:prstGeom>
          <a:noFill/>
        </p:spPr>
        <p:txBody>
          <a:bodyPr wrap="square" lIns="0" tIns="0" rIns="0" bIns="0" anchor="t">
            <a:spAutoFit/>
          </a:bodyPr>
          <a:lstStyle/>
          <a:p>
            <a:pPr algn="l">
              <a:lnSpc>
                <a:spcPct val="115000"/>
              </a:lnSpc>
            </a:pPr>
            <a:r>
              <a:rPr sz="1350" b="1" i="0" dirty="0">
                <a:solidFill>
                  <a:srgbClr val="1F2A37"/>
                </a:solidFill>
                <a:latin typeface="Calibri"/>
              </a:rPr>
              <a:t>Las 9 </a:t>
            </a:r>
            <a:r>
              <a:rPr sz="1350" b="1" i="0" dirty="0" err="1">
                <a:solidFill>
                  <a:srgbClr val="1F2A37"/>
                </a:solidFill>
                <a:latin typeface="Calibri"/>
              </a:rPr>
              <a:t>migraciones</a:t>
            </a:r>
            <a:r>
              <a:rPr sz="1350" b="1" i="0" dirty="0">
                <a:solidFill>
                  <a:srgbClr val="1F2A37"/>
                </a:solidFill>
                <a:latin typeface="Calibri"/>
              </a:rPr>
              <a:t> Flyway, </a:t>
            </a:r>
            <a:r>
              <a:rPr sz="1350" b="1" i="0" dirty="0" err="1">
                <a:solidFill>
                  <a:srgbClr val="1F2A37"/>
                </a:solidFill>
                <a:latin typeface="Calibri"/>
              </a:rPr>
              <a:t>reescritas</a:t>
            </a:r>
            <a:r>
              <a:rPr sz="1350" b="1" i="0" dirty="0">
                <a:solidFill>
                  <a:srgbClr val="1F2A37"/>
                </a:solidFill>
                <a:latin typeface="Calibri"/>
              </a:rPr>
              <a:t> de cero</a:t>
            </a:r>
          </a:p>
        </p:txBody>
      </p:sp>
      <p:sp>
        <p:nvSpPr>
          <p:cNvPr id="10" name="TextBox 9"/>
          <p:cNvSpPr txBox="1"/>
          <p:nvPr/>
        </p:nvSpPr>
        <p:spPr>
          <a:xfrm>
            <a:off x="868680" y="2734056"/>
            <a:ext cx="10332720" cy="457200"/>
          </a:xfrm>
          <a:prstGeom prst="rect">
            <a:avLst/>
          </a:prstGeom>
          <a:noFill/>
        </p:spPr>
        <p:txBody>
          <a:bodyPr wrap="square" lIns="0" tIns="0" rIns="0" bIns="0" anchor="t">
            <a:spAutoFit/>
          </a:bodyPr>
          <a:lstStyle/>
          <a:p>
            <a:pPr algn="l">
              <a:lnSpc>
                <a:spcPct val="115000"/>
              </a:lnSpc>
            </a:pPr>
            <a:r>
              <a:rPr sz="1130" b="0" i="0">
                <a:solidFill>
                  <a:srgbClr val="667085"/>
                </a:solidFill>
                <a:latin typeface="Calibri"/>
              </a:rPr>
              <a:t>Cada motor de base de datos usa sus propias palabras clave; hay que reescribir una por una: UUID nativo vs UNIQUEIDENTIFIER, BOOLEAN vs BIT, LIMIT/OFFSET vs TOP/OFFSET-FETCH, RETURNING vs OUTPUT.</a:t>
            </a:r>
          </a:p>
        </p:txBody>
      </p:sp>
      <p:sp>
        <p:nvSpPr>
          <p:cNvPr id="11" name="Rounded Rectangle 10"/>
          <p:cNvSpPr/>
          <p:nvPr/>
        </p:nvSpPr>
        <p:spPr>
          <a:xfrm>
            <a:off x="548640" y="3364992"/>
            <a:ext cx="10881360" cy="914400"/>
          </a:xfrm>
          <a:prstGeom prst="roundRect">
            <a:avLst>
              <a:gd name="adj" fmla="val 1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3364992"/>
            <a:ext cx="53340" cy="9144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3456432"/>
            <a:ext cx="10332720" cy="292608"/>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El dialecto de Hibernate cambia entero</a:t>
            </a:r>
          </a:p>
        </p:txBody>
      </p:sp>
      <p:sp>
        <p:nvSpPr>
          <p:cNvPr id="14" name="TextBox 13"/>
          <p:cNvSpPr txBox="1"/>
          <p:nvPr/>
        </p:nvSpPr>
        <p:spPr>
          <a:xfrm>
            <a:off x="868680" y="3767328"/>
            <a:ext cx="10332720" cy="457200"/>
          </a:xfrm>
          <a:prstGeom prst="rect">
            <a:avLst/>
          </a:prstGeom>
          <a:noFill/>
        </p:spPr>
        <p:txBody>
          <a:bodyPr wrap="square" lIns="0" tIns="0" rIns="0" bIns="0" anchor="t">
            <a:spAutoFit/>
          </a:bodyPr>
          <a:lstStyle/>
          <a:p>
            <a:pPr algn="l">
              <a:lnSpc>
                <a:spcPct val="115000"/>
              </a:lnSpc>
            </a:pPr>
            <a:r>
              <a:rPr sz="1130" b="0" i="0">
                <a:solidFill>
                  <a:srgbClr val="667085"/>
                </a:solidFill>
                <a:latin typeface="Calibri"/>
              </a:rPr>
              <a:t>Hibernate es la librería que traduce los objetos Java a SQL; necesita saber para qué motor traducir (su “dialecto”): PostgreSQLDialect → SQLServerDialect. Ya vimos hoy que Hibernate revisa el esquema de la base de datos al arrancar y es estricto: cualquier diferencia sutil de tipos rompe el arranque.</a:t>
            </a:r>
          </a:p>
        </p:txBody>
      </p:sp>
      <p:sp>
        <p:nvSpPr>
          <p:cNvPr id="15" name="Rounded Rectangle 14"/>
          <p:cNvSpPr/>
          <p:nvPr/>
        </p:nvSpPr>
        <p:spPr>
          <a:xfrm>
            <a:off x="548640" y="4398264"/>
            <a:ext cx="10881360" cy="914400"/>
          </a:xfrm>
          <a:prstGeom prst="roundRect">
            <a:avLst>
              <a:gd name="adj" fmla="val 1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48640" y="4398264"/>
            <a:ext cx="53340" cy="9144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68680" y="4489704"/>
            <a:ext cx="10332720" cy="292608"/>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La concurrencia se escribe distinto</a:t>
            </a:r>
          </a:p>
        </p:txBody>
      </p:sp>
      <p:sp>
        <p:nvSpPr>
          <p:cNvPr id="18" name="TextBox 17"/>
          <p:cNvSpPr txBox="1"/>
          <p:nvPr/>
        </p:nvSpPr>
        <p:spPr>
          <a:xfrm>
            <a:off x="868680" y="4800600"/>
            <a:ext cx="10332720" cy="457200"/>
          </a:xfrm>
          <a:prstGeom prst="rect">
            <a:avLst/>
          </a:prstGeom>
          <a:noFill/>
        </p:spPr>
        <p:txBody>
          <a:bodyPr wrap="square" lIns="0" tIns="0" rIns="0" bIns="0" anchor="t">
            <a:spAutoFit/>
          </a:bodyPr>
          <a:lstStyle/>
          <a:p>
            <a:pPr algn="l">
              <a:lnSpc>
                <a:spcPct val="115000"/>
              </a:lnSpc>
            </a:pPr>
            <a:r>
              <a:rPr sz="1130" b="0" i="0">
                <a:solidFill>
                  <a:srgbClr val="667085"/>
                </a:solidFill>
                <a:latin typeface="Calibri"/>
              </a:rPr>
              <a:t>SELECT FOR UPDATE (Postgres) vs WITH (UPDLOCK, ROWLOCK) (SQL Server): la instrucción que bloquea una fila para que dos cajeros no vendan el mismo lote de stock al mismo tiempo — cambia de sintaxis entre motores.</a:t>
            </a:r>
          </a:p>
        </p:txBody>
      </p:sp>
      <p:sp>
        <p:nvSpPr>
          <p:cNvPr id="19" name="Rounded Rectangle 18"/>
          <p:cNvSpPr/>
          <p:nvPr/>
        </p:nvSpPr>
        <p:spPr>
          <a:xfrm>
            <a:off x="548640" y="5431536"/>
            <a:ext cx="10881360" cy="914400"/>
          </a:xfrm>
          <a:prstGeom prst="roundRect">
            <a:avLst>
              <a:gd name="adj" fmla="val 1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48640" y="5431536"/>
            <a:ext cx="53340" cy="9144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68680" y="5522976"/>
            <a:ext cx="10332720" cy="292608"/>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El bug de hoy no desaparece, cambia de forma</a:t>
            </a:r>
          </a:p>
        </p:txBody>
      </p:sp>
      <p:sp>
        <p:nvSpPr>
          <p:cNvPr id="22" name="TextBox 21"/>
          <p:cNvSpPr txBox="1"/>
          <p:nvPr/>
        </p:nvSpPr>
        <p:spPr>
          <a:xfrm>
            <a:off x="868680" y="5833872"/>
            <a:ext cx="10332720" cy="457200"/>
          </a:xfrm>
          <a:prstGeom prst="rect">
            <a:avLst/>
          </a:prstGeom>
          <a:noFill/>
        </p:spPr>
        <p:txBody>
          <a:bodyPr wrap="square" lIns="0" tIns="0" rIns="0" bIns="0" anchor="t">
            <a:spAutoFit/>
          </a:bodyPr>
          <a:lstStyle/>
          <a:p>
            <a:pPr algn="l">
              <a:lnSpc>
                <a:spcPct val="115000"/>
              </a:lnSpc>
            </a:pPr>
            <a:r>
              <a:rPr sz="1130" b="0" i="0">
                <a:solidFill>
                  <a:srgbClr val="667085"/>
                </a:solidFill>
                <a:latin typeface="Calibri"/>
              </a:rPr>
              <a:t>lower(bytea) es un bug propio de Postgres. SQL Server, en muchas de sus configuraciones de texto (collations), no distingue mayúsculas de minúsculas por defecto — ahí el riesgo habría sido el opuesto: búsquedas que traen resultados de más (falsos positivos).</a:t>
            </a:r>
          </a:p>
        </p:txBody>
      </p:sp>
      <p:sp>
        <p:nvSpPr>
          <p:cNvPr id="23" name="TextBox 22"/>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4" name="TextBox 23"/>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POR QUE NO CUESTA EL TRIPLE</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Los bugs viven en las costuras, y las costuras crecen combinatorio</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3154680" y="2194559"/>
            <a:ext cx="2788920" cy="2834640"/>
          </a:xfrm>
          <a:prstGeom prst="line">
            <a:avLst/>
          </a:prstGeom>
          <a:ln w="28575">
            <a:solidFill>
              <a:srgbClr val="DC262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943600" y="2194559"/>
            <a:ext cx="2788920" cy="2834640"/>
          </a:xfrm>
          <a:prstGeom prst="line">
            <a:avLst/>
          </a:prstGeom>
          <a:ln w="12700">
            <a:solidFill>
              <a:srgbClr val="66708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54680" y="5029199"/>
            <a:ext cx="5577840" cy="0"/>
          </a:xfrm>
          <a:prstGeom prst="line">
            <a:avLst/>
          </a:prstGeom>
          <a:ln w="12700">
            <a:solidFill>
              <a:srgbClr val="667085"/>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800600" y="1805939"/>
            <a:ext cx="2286000" cy="77724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00600" y="1805939"/>
            <a:ext cx="2286000" cy="777240"/>
          </a:xfrm>
          <a:prstGeom prst="rect">
            <a:avLst/>
          </a:prstGeom>
          <a:noFill/>
        </p:spPr>
        <p:txBody>
          <a:bodyPr wrap="square" lIns="0" tIns="0" rIns="0" bIns="0" anchor="ctr">
            <a:spAutoFit/>
          </a:bodyPr>
          <a:lstStyle/>
          <a:p>
            <a:pPr algn="ctr">
              <a:lnSpc>
                <a:spcPct val="100000"/>
              </a:lnSpc>
            </a:pPr>
            <a:r>
              <a:rPr sz="1250" b="1" i="0">
                <a:solidFill>
                  <a:srgbClr val="FFFFFF"/>
                </a:solidFill>
                <a:latin typeface="Calibri"/>
              </a:rPr>
              <a:t>LENGUAJE /</a:t>
            </a:r>
          </a:p>
          <a:p>
            <a:pPr algn="ctr">
              <a:lnSpc>
                <a:spcPct val="100000"/>
              </a:lnSpc>
            </a:pPr>
            <a:r>
              <a:rPr sz="1250" b="1" i="0">
                <a:solidFill>
                  <a:srgbClr val="FFFFFF"/>
                </a:solidFill>
                <a:latin typeface="Calibri"/>
              </a:rPr>
              <a:t>FRAMEWORK</a:t>
            </a:r>
          </a:p>
        </p:txBody>
      </p:sp>
      <p:sp>
        <p:nvSpPr>
          <p:cNvPr id="11" name="Oval 10"/>
          <p:cNvSpPr/>
          <p:nvPr/>
        </p:nvSpPr>
        <p:spPr>
          <a:xfrm>
            <a:off x="2011680" y="4640579"/>
            <a:ext cx="2286000" cy="77724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011680" y="4640579"/>
            <a:ext cx="2286000" cy="777240"/>
          </a:xfrm>
          <a:prstGeom prst="rect">
            <a:avLst/>
          </a:prstGeom>
          <a:noFill/>
        </p:spPr>
        <p:txBody>
          <a:bodyPr wrap="square" lIns="0" tIns="0" rIns="0" bIns="0" anchor="ctr">
            <a:spAutoFit/>
          </a:bodyPr>
          <a:lstStyle/>
          <a:p>
            <a:pPr algn="ctr">
              <a:lnSpc>
                <a:spcPct val="100000"/>
              </a:lnSpc>
            </a:pPr>
            <a:r>
              <a:rPr sz="1250" b="1" i="0">
                <a:solidFill>
                  <a:srgbClr val="FFFFFF"/>
                </a:solidFill>
                <a:latin typeface="Calibri"/>
              </a:rPr>
              <a:t>ARQUITECTURA</a:t>
            </a:r>
          </a:p>
        </p:txBody>
      </p:sp>
      <p:sp>
        <p:nvSpPr>
          <p:cNvPr id="13" name="Oval 12"/>
          <p:cNvSpPr/>
          <p:nvPr/>
        </p:nvSpPr>
        <p:spPr>
          <a:xfrm>
            <a:off x="7589520" y="4640579"/>
            <a:ext cx="2286000" cy="777240"/>
          </a:xfrm>
          <a:prstGeom prst="ellipse">
            <a:avLst/>
          </a:prstGeom>
          <a:solidFill>
            <a:srgbClr val="667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89520" y="4640579"/>
            <a:ext cx="2286000" cy="777240"/>
          </a:xfrm>
          <a:prstGeom prst="rect">
            <a:avLst/>
          </a:prstGeom>
          <a:noFill/>
        </p:spPr>
        <p:txBody>
          <a:bodyPr wrap="square" lIns="0" tIns="0" rIns="0" bIns="0" anchor="ctr">
            <a:spAutoFit/>
          </a:bodyPr>
          <a:lstStyle/>
          <a:p>
            <a:pPr algn="ctr">
              <a:lnSpc>
                <a:spcPct val="100000"/>
              </a:lnSpc>
            </a:pPr>
            <a:r>
              <a:rPr sz="1250" b="1" i="0">
                <a:solidFill>
                  <a:srgbClr val="FFFFFF"/>
                </a:solidFill>
                <a:latin typeface="Calibri"/>
              </a:rPr>
              <a:t>BASE DE</a:t>
            </a:r>
          </a:p>
          <a:p>
            <a:pPr algn="ctr">
              <a:lnSpc>
                <a:spcPct val="100000"/>
              </a:lnSpc>
            </a:pPr>
            <a:r>
              <a:rPr sz="1250" b="1" i="0">
                <a:solidFill>
                  <a:srgbClr val="FFFFFF"/>
                </a:solidFill>
                <a:latin typeface="Calibri"/>
              </a:rPr>
              <a:t>DATOS</a:t>
            </a:r>
          </a:p>
        </p:txBody>
      </p:sp>
      <p:sp>
        <p:nvSpPr>
          <p:cNvPr id="15" name="Rounded Rectangle 14"/>
          <p:cNvSpPr/>
          <p:nvPr/>
        </p:nvSpPr>
        <p:spPr>
          <a:xfrm>
            <a:off x="1805940" y="3355847"/>
            <a:ext cx="2377440" cy="512064"/>
          </a:xfrm>
          <a:prstGeom prst="roundRect">
            <a:avLst>
              <a:gd name="adj" fmla="val 30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805940" y="3355847"/>
            <a:ext cx="2377440" cy="512064"/>
          </a:xfrm>
          <a:prstGeom prst="rect">
            <a:avLst/>
          </a:prstGeom>
          <a:noFill/>
        </p:spPr>
        <p:txBody>
          <a:bodyPr wrap="square" lIns="0" tIns="0" rIns="0" bIns="0" anchor="ctr">
            <a:spAutoFit/>
          </a:bodyPr>
          <a:lstStyle/>
          <a:p>
            <a:pPr algn="ctr">
              <a:lnSpc>
                <a:spcPct val="100000"/>
              </a:lnSpc>
            </a:pPr>
            <a:r>
              <a:rPr sz="1000" b="1" i="0">
                <a:solidFill>
                  <a:srgbClr val="DC2626"/>
                </a:solidFill>
                <a:latin typeface="Calibri"/>
              </a:rPr>
              <a:t>3 BUGS REALES</a:t>
            </a:r>
          </a:p>
          <a:p>
            <a:pPr algn="ctr">
              <a:lnSpc>
                <a:spcPct val="100000"/>
              </a:lnSpc>
            </a:pPr>
            <a:r>
              <a:rPr sz="1000" b="1" i="0">
                <a:solidFill>
                  <a:srgbClr val="DC2626"/>
                </a:solidFill>
                <a:latin typeface="Calibri"/>
              </a:rPr>
              <a:t>(los 3 casos)</a:t>
            </a:r>
          </a:p>
        </p:txBody>
      </p:sp>
      <p:sp>
        <p:nvSpPr>
          <p:cNvPr id="17" name="Rounded Rectangle 16"/>
          <p:cNvSpPr/>
          <p:nvPr/>
        </p:nvSpPr>
        <p:spPr>
          <a:xfrm>
            <a:off x="7749540" y="3035807"/>
            <a:ext cx="2377440" cy="512064"/>
          </a:xfrm>
          <a:prstGeom prst="roundRect">
            <a:avLst>
              <a:gd name="adj" fmla="val 30000"/>
            </a:avLst>
          </a:prstGeom>
          <a:solidFill>
            <a:srgbClr val="FFFFFF"/>
          </a:solidFill>
          <a:ln w="15875">
            <a:solidFill>
              <a:srgbClr val="6670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49540" y="3035807"/>
            <a:ext cx="2377440" cy="512064"/>
          </a:xfrm>
          <a:prstGeom prst="rect">
            <a:avLst/>
          </a:prstGeom>
          <a:noFill/>
        </p:spPr>
        <p:txBody>
          <a:bodyPr wrap="square" lIns="0" tIns="0" rIns="0" bIns="0" anchor="ctr">
            <a:spAutoFit/>
          </a:bodyPr>
          <a:lstStyle/>
          <a:p>
            <a:pPr algn="ctr">
              <a:lnSpc>
                <a:spcPct val="100000"/>
              </a:lnSpc>
            </a:pPr>
            <a:r>
              <a:rPr sz="1000" b="1" i="0">
                <a:solidFill>
                  <a:srgbClr val="667085"/>
                </a:solidFill>
                <a:latin typeface="Calibri"/>
              </a:rPr>
              <a:t>hipotetico:</a:t>
            </a:r>
          </a:p>
          <a:p>
            <a:pPr algn="ctr">
              <a:lnSpc>
                <a:spcPct val="100000"/>
              </a:lnSpc>
            </a:pPr>
            <a:r>
              <a:rPr sz="1000" b="1" i="0">
                <a:solidFill>
                  <a:srgbClr val="667085"/>
                </a:solidFill>
                <a:latin typeface="Calibri"/>
              </a:rPr>
              <a:t>dialecto SQL + conector BD</a:t>
            </a:r>
          </a:p>
        </p:txBody>
      </p:sp>
      <p:sp>
        <p:nvSpPr>
          <p:cNvPr id="19" name="Rounded Rectangle 18"/>
          <p:cNvSpPr/>
          <p:nvPr/>
        </p:nvSpPr>
        <p:spPr>
          <a:xfrm>
            <a:off x="4754880" y="5276087"/>
            <a:ext cx="2377440" cy="512064"/>
          </a:xfrm>
          <a:prstGeom prst="roundRect">
            <a:avLst>
              <a:gd name="adj" fmla="val 30000"/>
            </a:avLst>
          </a:prstGeom>
          <a:solidFill>
            <a:srgbClr val="FFFFFF"/>
          </a:solidFill>
          <a:ln w="15875">
            <a:solidFill>
              <a:srgbClr val="6670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754880" y="5276087"/>
            <a:ext cx="2377440" cy="512064"/>
          </a:xfrm>
          <a:prstGeom prst="rect">
            <a:avLst/>
          </a:prstGeom>
          <a:noFill/>
        </p:spPr>
        <p:txBody>
          <a:bodyPr wrap="square" lIns="0" tIns="0" rIns="0" bIns="0" anchor="ctr">
            <a:spAutoFit/>
          </a:bodyPr>
          <a:lstStyle/>
          <a:p>
            <a:pPr algn="ctr">
              <a:lnSpc>
                <a:spcPct val="100000"/>
              </a:lnSpc>
            </a:pPr>
            <a:r>
              <a:rPr sz="1000" b="1" i="0">
                <a:solidFill>
                  <a:srgbClr val="667085"/>
                </a:solidFill>
                <a:latin typeface="Calibri"/>
              </a:rPr>
              <a:t>hipotetico:</a:t>
            </a:r>
          </a:p>
          <a:p>
            <a:pPr algn="ctr">
              <a:lnSpc>
                <a:spcPct val="100000"/>
              </a:lnSpc>
            </a:pPr>
            <a:r>
              <a:rPr sz="1000" b="1" i="0">
                <a:solidFill>
                  <a:srgbClr val="667085"/>
                </a:solidFill>
                <a:latin typeface="Calibri"/>
              </a:rPr>
              <a:t>bloqueos + pruebas con BD real</a:t>
            </a:r>
          </a:p>
        </p:txBody>
      </p:sp>
      <p:sp>
        <p:nvSpPr>
          <p:cNvPr id="21" name="TextBox 20"/>
          <p:cNvSpPr txBox="1"/>
          <p:nvPr/>
        </p:nvSpPr>
        <p:spPr>
          <a:xfrm>
            <a:off x="548640" y="5989320"/>
            <a:ext cx="10881360" cy="640080"/>
          </a:xfrm>
          <a:prstGeom prst="rect">
            <a:avLst/>
          </a:prstGeom>
          <a:noFill/>
        </p:spPr>
        <p:txBody>
          <a:bodyPr wrap="square" lIns="0" tIns="0" rIns="0" bIns="0" anchor="t">
            <a:spAutoFit/>
          </a:bodyPr>
          <a:lstStyle/>
          <a:p>
            <a:pPr algn="ctr">
              <a:lnSpc>
                <a:spcPct val="115000"/>
              </a:lnSpc>
            </a:pPr>
            <a:r>
              <a:rPr sz="1350" b="1" i="1" dirty="0">
                <a:solidFill>
                  <a:srgbClr val="1F2A37"/>
                </a:solidFill>
                <a:latin typeface="Calibri"/>
              </a:rPr>
              <a:t>Con 2 </a:t>
            </a:r>
            <a:r>
              <a:rPr sz="1350" b="1" i="1" dirty="0" err="1">
                <a:solidFill>
                  <a:srgbClr val="1F2A37"/>
                </a:solidFill>
                <a:latin typeface="Calibri"/>
              </a:rPr>
              <a:t>ejes</a:t>
            </a:r>
            <a:r>
              <a:rPr sz="1350" b="1" i="1" dirty="0">
                <a:solidFill>
                  <a:srgbClr val="1F2A37"/>
                </a:solidFill>
                <a:latin typeface="Calibri"/>
              </a:rPr>
              <a:t> </a:t>
            </a:r>
            <a:r>
              <a:rPr sz="1350" b="1" i="1" dirty="0" err="1">
                <a:solidFill>
                  <a:srgbClr val="1F2A37"/>
                </a:solidFill>
                <a:latin typeface="Calibri"/>
              </a:rPr>
              <a:t>moviendose</a:t>
            </a:r>
            <a:r>
              <a:rPr sz="1350" b="1" i="1" dirty="0">
                <a:solidFill>
                  <a:srgbClr val="1F2A37"/>
                </a:solidFill>
                <a:latin typeface="Calibri"/>
              </a:rPr>
              <a:t> hay 1 </a:t>
            </a:r>
            <a:r>
              <a:rPr sz="1350" b="1" i="1" dirty="0" err="1">
                <a:solidFill>
                  <a:srgbClr val="1F2A37"/>
                </a:solidFill>
                <a:latin typeface="Calibri"/>
              </a:rPr>
              <a:t>costura</a:t>
            </a:r>
            <a:r>
              <a:rPr sz="1350" b="1" i="1" dirty="0">
                <a:solidFill>
                  <a:srgbClr val="1F2A37"/>
                </a:solidFill>
                <a:latin typeface="Calibri"/>
              </a:rPr>
              <a:t> (y </a:t>
            </a:r>
            <a:r>
              <a:rPr sz="1350" b="1" i="1" dirty="0" err="1">
                <a:solidFill>
                  <a:srgbClr val="1F2A37"/>
                </a:solidFill>
                <a:latin typeface="Calibri"/>
              </a:rPr>
              <a:t>ya</a:t>
            </a:r>
            <a:r>
              <a:rPr sz="1350" b="1" i="1" dirty="0">
                <a:solidFill>
                  <a:srgbClr val="1F2A37"/>
                </a:solidFill>
                <a:latin typeface="Calibri"/>
              </a:rPr>
              <a:t> </a:t>
            </a:r>
            <a:r>
              <a:rPr sz="1350" b="1" i="1" dirty="0" err="1">
                <a:solidFill>
                  <a:srgbClr val="1F2A37"/>
                </a:solidFill>
                <a:latin typeface="Calibri"/>
              </a:rPr>
              <a:t>dio</a:t>
            </a:r>
            <a:r>
              <a:rPr sz="1350" b="1" i="1" dirty="0">
                <a:solidFill>
                  <a:srgbClr val="1F2A37"/>
                </a:solidFill>
                <a:latin typeface="Calibri"/>
              </a:rPr>
              <a:t> 3 bugs). Con 3 </a:t>
            </a:r>
            <a:r>
              <a:rPr sz="1350" b="1" i="1" dirty="0" err="1">
                <a:solidFill>
                  <a:srgbClr val="1F2A37"/>
                </a:solidFill>
                <a:latin typeface="Calibri"/>
              </a:rPr>
              <a:t>ejes</a:t>
            </a:r>
            <a:r>
              <a:rPr sz="1350" b="1" i="1" dirty="0">
                <a:solidFill>
                  <a:srgbClr val="1F2A37"/>
                </a:solidFill>
                <a:latin typeface="Calibri"/>
              </a:rPr>
              <a:t> hay 3 </a:t>
            </a:r>
            <a:r>
              <a:rPr sz="1350" b="1" i="1" dirty="0" err="1">
                <a:solidFill>
                  <a:srgbClr val="1F2A37"/>
                </a:solidFill>
                <a:latin typeface="Calibri"/>
              </a:rPr>
              <a:t>costuras</a:t>
            </a:r>
            <a:r>
              <a:rPr sz="1350" b="1" i="1" dirty="0">
                <a:solidFill>
                  <a:srgbClr val="1F2A37"/>
                </a:solidFill>
                <a:latin typeface="Calibri"/>
              </a:rPr>
              <a:t> — el </a:t>
            </a:r>
            <a:r>
              <a:rPr sz="1350" b="1" i="1" dirty="0" err="1">
                <a:solidFill>
                  <a:srgbClr val="1F2A37"/>
                </a:solidFill>
                <a:latin typeface="Calibri"/>
              </a:rPr>
              <a:t>riesgo</a:t>
            </a:r>
            <a:r>
              <a:rPr sz="1350" b="1" i="1" dirty="0">
                <a:solidFill>
                  <a:srgbClr val="1F2A37"/>
                </a:solidFill>
                <a:latin typeface="Calibri"/>
              </a:rPr>
              <a:t> no </a:t>
            </a:r>
            <a:r>
              <a:rPr sz="1350" b="1" i="1" dirty="0" err="1">
                <a:solidFill>
                  <a:srgbClr val="1F2A37"/>
                </a:solidFill>
                <a:latin typeface="Calibri"/>
              </a:rPr>
              <a:t>suma</a:t>
            </a:r>
            <a:r>
              <a:rPr sz="1350" b="1" i="1" dirty="0">
                <a:solidFill>
                  <a:srgbClr val="1F2A37"/>
                </a:solidFill>
                <a:latin typeface="Calibri"/>
              </a:rPr>
              <a:t>, </a:t>
            </a:r>
            <a:r>
              <a:rPr sz="1350" b="1" i="1" dirty="0" err="1">
                <a:solidFill>
                  <a:srgbClr val="1F2A37"/>
                </a:solidFill>
                <a:latin typeface="Calibri"/>
              </a:rPr>
              <a:t>multiplica</a:t>
            </a:r>
            <a:r>
              <a:rPr sz="1350" b="1" i="1" dirty="0">
                <a:solidFill>
                  <a:srgbClr val="1F2A37"/>
                </a:solidFill>
                <a:latin typeface="Calibri"/>
              </a:rPr>
              <a:t>.</a:t>
            </a:r>
          </a:p>
        </p:txBody>
      </p:sp>
      <p:sp>
        <p:nvSpPr>
          <p:cNvPr id="22" name="TextBox 21"/>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3" name="TextBox 22"/>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822960"/>
            <a:ext cx="10058400" cy="365760"/>
          </a:xfrm>
          <a:prstGeom prst="rect">
            <a:avLst/>
          </a:prstGeom>
          <a:noFill/>
        </p:spPr>
        <p:txBody>
          <a:bodyPr wrap="square" lIns="0" tIns="0" rIns="0" bIns="0" anchor="t">
            <a:spAutoFit/>
          </a:bodyPr>
          <a:lstStyle/>
          <a:p>
            <a:pPr algn="l">
              <a:lnSpc>
                <a:spcPct val="115000"/>
              </a:lnSpc>
            </a:pPr>
            <a:r>
              <a:rPr sz="1400" b="1" i="0">
                <a:solidFill>
                  <a:srgbClr val="6DB33F"/>
                </a:solidFill>
                <a:latin typeface="Calibri"/>
              </a:rPr>
              <a:t>CONCLUSION</a:t>
            </a:r>
          </a:p>
        </p:txBody>
      </p:sp>
      <p:sp>
        <p:nvSpPr>
          <p:cNvPr id="5" name="TextBox 4"/>
          <p:cNvSpPr txBox="1"/>
          <p:nvPr/>
        </p:nvSpPr>
        <p:spPr>
          <a:xfrm>
            <a:off x="822960" y="1234440"/>
            <a:ext cx="10515600" cy="1188720"/>
          </a:xfrm>
          <a:prstGeom prst="rect">
            <a:avLst/>
          </a:prstGeom>
          <a:noFill/>
        </p:spPr>
        <p:txBody>
          <a:bodyPr wrap="square" lIns="0" tIns="0" rIns="0" bIns="0" anchor="t">
            <a:spAutoFit/>
          </a:bodyPr>
          <a:lstStyle/>
          <a:p>
            <a:pPr algn="l">
              <a:lnSpc>
                <a:spcPct val="115000"/>
              </a:lnSpc>
            </a:pPr>
            <a:r>
              <a:rPr sz="2800" b="1" i="0">
                <a:solidFill>
                  <a:srgbClr val="FFFFFF"/>
                </a:solidFill>
                <a:latin typeface="Calibri"/>
              </a:rPr>
              <a:t>La mayor carga nunca fue “aprender Java”.</a:t>
            </a:r>
          </a:p>
        </p:txBody>
      </p:sp>
      <p:sp>
        <p:nvSpPr>
          <p:cNvPr id="6" name="TextBox 5"/>
          <p:cNvSpPr txBox="1"/>
          <p:nvPr/>
        </p:nvSpPr>
        <p:spPr>
          <a:xfrm>
            <a:off x="822960" y="1965960"/>
            <a:ext cx="10515600" cy="1097280"/>
          </a:xfrm>
          <a:prstGeom prst="rect">
            <a:avLst/>
          </a:prstGeom>
          <a:noFill/>
        </p:spPr>
        <p:txBody>
          <a:bodyPr wrap="square" lIns="0" tIns="0" rIns="0" bIns="0" anchor="t">
            <a:spAutoFit/>
          </a:bodyPr>
          <a:lstStyle/>
          <a:p>
            <a:pPr algn="l">
              <a:lnSpc>
                <a:spcPct val="130000"/>
              </a:lnSpc>
            </a:pPr>
            <a:r>
              <a:rPr sz="1700" b="0" i="0">
                <a:solidFill>
                  <a:srgbClr val="D8DEE4"/>
                </a:solidFill>
                <a:latin typeface="Calibri"/>
              </a:rPr>
              <a:t>Fue sostener 44 reglas de negocio finas y un contrato REST real, mientras se reordenaba</a:t>
            </a:r>
          </a:p>
          <a:p>
            <a:pPr algn="l">
              <a:lnSpc>
                <a:spcPct val="130000"/>
              </a:lnSpc>
            </a:pPr>
            <a:r>
              <a:rPr sz="1700" b="0" i="0">
                <a:solidFill>
                  <a:srgbClr val="D8DEE4"/>
                </a:solidFill>
                <a:latin typeface="Calibri"/>
              </a:rPr>
              <a:t>la arquitectura entera por debajo — y el framework tampoco se quedaba quieto.</a:t>
            </a:r>
          </a:p>
        </p:txBody>
      </p:sp>
      <p:sp>
        <p:nvSpPr>
          <p:cNvPr id="7" name="Rounded Rectangle 6"/>
          <p:cNvSpPr/>
          <p:nvPr/>
        </p:nvSpPr>
        <p:spPr>
          <a:xfrm>
            <a:off x="822960" y="3429000"/>
            <a:ext cx="3383280" cy="2148840"/>
          </a:xfrm>
          <a:prstGeom prst="roundRect">
            <a:avLst>
              <a:gd name="adj" fmla="val 10000"/>
            </a:avLst>
          </a:prstGeom>
          <a:solidFill>
            <a:srgbClr val="273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22960" y="3429000"/>
            <a:ext cx="3383280" cy="533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78992" y="3639312"/>
            <a:ext cx="2871216" cy="502920"/>
          </a:xfrm>
          <a:prstGeom prst="rect">
            <a:avLst/>
          </a:prstGeom>
          <a:noFill/>
        </p:spPr>
        <p:txBody>
          <a:bodyPr wrap="square" lIns="0" tIns="0" rIns="0" bIns="0" anchor="t">
            <a:spAutoFit/>
          </a:bodyPr>
          <a:lstStyle/>
          <a:p>
            <a:pPr algn="l">
              <a:lnSpc>
                <a:spcPct val="115000"/>
              </a:lnSpc>
            </a:pPr>
            <a:r>
              <a:rPr sz="1500" b="1" i="0">
                <a:solidFill>
                  <a:srgbClr val="FFFFFF"/>
                </a:solidFill>
                <a:latin typeface="Calibri"/>
              </a:rPr>
              <a:t>Mayor carga de trabajo</a:t>
            </a:r>
          </a:p>
        </p:txBody>
      </p:sp>
      <p:sp>
        <p:nvSpPr>
          <p:cNvPr id="10" name="TextBox 9"/>
          <p:cNvSpPr txBox="1"/>
          <p:nvPr/>
        </p:nvSpPr>
        <p:spPr>
          <a:xfrm>
            <a:off x="1078992" y="4160520"/>
            <a:ext cx="2871216" cy="1280160"/>
          </a:xfrm>
          <a:prstGeom prst="rect">
            <a:avLst/>
          </a:prstGeom>
          <a:noFill/>
        </p:spPr>
        <p:txBody>
          <a:bodyPr wrap="square" lIns="0" tIns="0" rIns="0" bIns="0" anchor="t">
            <a:spAutoFit/>
          </a:bodyPr>
          <a:lstStyle/>
          <a:p>
            <a:pPr algn="l">
              <a:lnSpc>
                <a:spcPct val="125000"/>
              </a:lnSpc>
            </a:pPr>
            <a:r>
              <a:rPr sz="1250" b="0" i="0">
                <a:solidFill>
                  <a:srgbClr val="C7CED6"/>
                </a:solidFill>
                <a:latin typeface="Calibri"/>
              </a:rPr>
              <a:t>el adaptador de persistencia (JPA + Flyway + concurrencia) y la multiplicacion de puertos propia de Hexagonal.</a:t>
            </a:r>
          </a:p>
        </p:txBody>
      </p:sp>
      <p:sp>
        <p:nvSpPr>
          <p:cNvPr id="11" name="Rounded Rectangle 10"/>
          <p:cNvSpPr/>
          <p:nvPr/>
        </p:nvSpPr>
        <p:spPr>
          <a:xfrm>
            <a:off x="4389120" y="3429000"/>
            <a:ext cx="3383280" cy="2148840"/>
          </a:xfrm>
          <a:prstGeom prst="roundRect">
            <a:avLst>
              <a:gd name="adj" fmla="val 10000"/>
            </a:avLst>
          </a:prstGeom>
          <a:solidFill>
            <a:srgbClr val="273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89120" y="3429000"/>
            <a:ext cx="3383280" cy="533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45152" y="3639312"/>
            <a:ext cx="2871216" cy="502920"/>
          </a:xfrm>
          <a:prstGeom prst="rect">
            <a:avLst/>
          </a:prstGeom>
          <a:noFill/>
        </p:spPr>
        <p:txBody>
          <a:bodyPr wrap="square" lIns="0" tIns="0" rIns="0" bIns="0" anchor="t">
            <a:spAutoFit/>
          </a:bodyPr>
          <a:lstStyle/>
          <a:p>
            <a:pPr algn="l">
              <a:lnSpc>
                <a:spcPct val="115000"/>
              </a:lnSpc>
            </a:pPr>
            <a:r>
              <a:rPr sz="1500" b="1" i="0">
                <a:solidFill>
                  <a:srgbClr val="FFFFFF"/>
                </a:solidFill>
                <a:latin typeface="Calibri"/>
              </a:rPr>
              <a:t>Mayor riesgo</a:t>
            </a:r>
          </a:p>
        </p:txBody>
      </p:sp>
      <p:sp>
        <p:nvSpPr>
          <p:cNvPr id="14" name="TextBox 13"/>
          <p:cNvSpPr txBox="1"/>
          <p:nvPr/>
        </p:nvSpPr>
        <p:spPr>
          <a:xfrm>
            <a:off x="4645152" y="4160520"/>
            <a:ext cx="2871216" cy="1280160"/>
          </a:xfrm>
          <a:prstGeom prst="rect">
            <a:avLst/>
          </a:prstGeom>
          <a:noFill/>
        </p:spPr>
        <p:txBody>
          <a:bodyPr wrap="square" lIns="0" tIns="0" rIns="0" bIns="0" anchor="t">
            <a:spAutoFit/>
          </a:bodyPr>
          <a:lstStyle/>
          <a:p>
            <a:pPr algn="l">
              <a:lnSpc>
                <a:spcPct val="125000"/>
              </a:lnSpc>
            </a:pPr>
            <a:r>
              <a:rPr sz="1250" b="0" i="0">
                <a:solidFill>
                  <a:srgbClr val="C7CED6"/>
                </a:solidFill>
                <a:latin typeface="Calibri"/>
              </a:rPr>
              <a:t>las costuras entre ejes: exactamente donde vivieron los 3 bugs reales de esta charla.</a:t>
            </a:r>
          </a:p>
        </p:txBody>
      </p:sp>
      <p:sp>
        <p:nvSpPr>
          <p:cNvPr id="15" name="Rounded Rectangle 14"/>
          <p:cNvSpPr/>
          <p:nvPr/>
        </p:nvSpPr>
        <p:spPr>
          <a:xfrm>
            <a:off x="7955280" y="3429000"/>
            <a:ext cx="3383280" cy="2148840"/>
          </a:xfrm>
          <a:prstGeom prst="roundRect">
            <a:avLst>
              <a:gd name="adj" fmla="val 10000"/>
            </a:avLst>
          </a:prstGeom>
          <a:solidFill>
            <a:srgbClr val="273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955280" y="3429000"/>
            <a:ext cx="3383280" cy="53340"/>
          </a:xfrm>
          <a:prstGeom prst="rect">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11312" y="3639312"/>
            <a:ext cx="2871216" cy="502920"/>
          </a:xfrm>
          <a:prstGeom prst="rect">
            <a:avLst/>
          </a:prstGeom>
          <a:noFill/>
        </p:spPr>
        <p:txBody>
          <a:bodyPr wrap="square" lIns="0" tIns="0" rIns="0" bIns="0" anchor="t">
            <a:spAutoFit/>
          </a:bodyPr>
          <a:lstStyle/>
          <a:p>
            <a:pPr algn="l">
              <a:lnSpc>
                <a:spcPct val="115000"/>
              </a:lnSpc>
            </a:pPr>
            <a:r>
              <a:rPr sz="1500" b="1" i="0">
                <a:solidFill>
                  <a:srgbClr val="FFFFFF"/>
                </a:solidFill>
                <a:latin typeface="Calibri"/>
              </a:rPr>
              <a:t>Mayor beneficio a cambio</a:t>
            </a:r>
          </a:p>
        </p:txBody>
      </p:sp>
      <p:sp>
        <p:nvSpPr>
          <p:cNvPr id="18" name="TextBox 17"/>
          <p:cNvSpPr txBox="1"/>
          <p:nvPr/>
        </p:nvSpPr>
        <p:spPr>
          <a:xfrm>
            <a:off x="8211312" y="4160520"/>
            <a:ext cx="2871216" cy="1280160"/>
          </a:xfrm>
          <a:prstGeom prst="rect">
            <a:avLst/>
          </a:prstGeom>
          <a:noFill/>
        </p:spPr>
        <p:txBody>
          <a:bodyPr wrap="square" lIns="0" tIns="0" rIns="0" bIns="0" anchor="t">
            <a:spAutoFit/>
          </a:bodyPr>
          <a:lstStyle/>
          <a:p>
            <a:pPr algn="l">
              <a:lnSpc>
                <a:spcPct val="125000"/>
              </a:lnSpc>
            </a:pPr>
            <a:r>
              <a:rPr sz="1250" b="0" i="0">
                <a:solidFill>
                  <a:srgbClr val="C7CED6"/>
                </a:solidFill>
                <a:latin typeface="Calibri"/>
              </a:rPr>
              <a:t>limites de capa verificables por el compilador — el error de arquitectura ahora no compila.</a:t>
            </a:r>
          </a:p>
        </p:txBody>
      </p:sp>
      <p:sp>
        <p:nvSpPr>
          <p:cNvPr id="19" name="TextBox 1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0" name="TextBox 1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32</TotalTime>
  <Words>2357</Words>
  <Application>Microsoft Office PowerPoint</Application>
  <PresentationFormat>Panorámica</PresentationFormat>
  <Paragraphs>189</Paragraphs>
  <Slides>15</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15</vt:i4>
      </vt:variant>
    </vt:vector>
  </HeadingPairs>
  <TitlesOfParts>
    <vt:vector size="18"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Javier Geronimo</cp:lastModifiedBy>
  <cp:revision>5</cp:revision>
  <dcterms:created xsi:type="dcterms:W3CDTF">2013-01-27T09:14:16Z</dcterms:created>
  <dcterms:modified xsi:type="dcterms:W3CDTF">2026-08-06T01:26:13Z</dcterms:modified>
  <cp:category/>
</cp:coreProperties>
</file>