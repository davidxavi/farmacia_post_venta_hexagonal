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695" cy="54864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B8C2CC"/>
                </a:solidFill>
                <a:latin typeface="Calibri"/>
              </a:rPr>
              <a:t>SISTEMA POS FARMACIA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De .NET Onion a Java Hexagonal:</a:t>
            </a:r>
          </a:p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la historia real de una migracion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D8DEE4"/>
                </a:solidFill>
                <a:latin typeface="Calibri"/>
              </a:rPr>
              <a:t>Dos ejes de cambio a la vez (lenguaje y arquitectura), un tercero que se dejo quieto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D8DEE4"/>
                </a:solidFill>
                <a:latin typeface="Calibri"/>
              </a:rPr>
              <a:t>a proposito (la base de datos) — y las costuras que igual se rompieron primero.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74920"/>
            <a:ext cx="2606040" cy="502920"/>
          </a:xfrm>
          <a:prstGeom prst="roundRect">
            <a:avLst>
              <a:gd name="adj" fmla="val 50000"/>
            </a:avLst>
          </a:prstGeom>
          <a:solidFill>
            <a:srgbClr val="512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arquitectura_2_t2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5074920"/>
            <a:ext cx="640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5074920"/>
            <a:ext cx="2606040" cy="502920"/>
          </a:xfrm>
          <a:prstGeom prst="roundRect">
            <a:avLst>
              <a:gd name="adj" fmla="val 50000"/>
            </a:avLst>
          </a:prstGeom>
          <a:solidFill>
            <a:srgbClr val="6DB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60520" y="507492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arquitecttura_2_t3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Migracion POS Farmacia — .NET Onion → Java Hexagonal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7A1E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2A37"/>
                </a:solidFill>
                <a:latin typeface="Calibri"/>
              </a:rPr>
              <a:t>De que habla esta charla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4064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584"/>
              </a:spcAft>
            </a:pPr>
            <a:r>
              <a:rPr sz="1700" b="1">
                <a:solidFill>
                  <a:srgbClr val="E87A1E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El punto de partida. </a:t>
            </a:r>
            <a:r>
              <a:rPr sz="1700" b="0">
                <a:solidFill>
                  <a:srgbClr val="1F2A37"/>
                </a:solidFill>
                <a:latin typeface="Calibri"/>
              </a:rPr>
              <a:t>que tan completo era ya el sistema en .NET antes de tocarlo.</a:t>
            </a:r>
          </a:p>
          <a:p>
            <a:pPr>
              <a:lnSpc>
                <a:spcPct val="118000"/>
              </a:lnSpc>
              <a:spcAft>
                <a:spcPts val="1584"/>
              </a:spcAft>
            </a:pPr>
            <a:r>
              <a:rPr sz="1700" b="1">
                <a:solidFill>
                  <a:srgbClr val="E87A1E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El marco: 3 ejes posibles de cambio </a:t>
            </a:r>
            <a:r>
              <a:rPr sz="1700" b="0">
                <a:solidFill>
                  <a:srgbClr val="1F2A37"/>
                </a:solidFill>
                <a:latin typeface="Calibri"/>
              </a:rPr>
              <a:t>(lenguaje, arquitectura, base de datos) y por que solo movimos dos.</a:t>
            </a:r>
          </a:p>
          <a:p>
            <a:pPr>
              <a:lnSpc>
                <a:spcPct val="118000"/>
              </a:lnSpc>
              <a:spcAft>
                <a:spcPts val="1584"/>
              </a:spcAft>
            </a:pPr>
            <a:r>
              <a:rPr sz="1700" b="1">
                <a:solidFill>
                  <a:srgbClr val="E87A1E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La friccion esperada </a:t>
            </a:r>
            <a:r>
              <a:rPr sz="1700" b="0">
                <a:solidFill>
                  <a:srgbClr val="1F2A37"/>
                </a:solidFill>
                <a:latin typeface="Calibri"/>
              </a:rPr>
              <a:t>— la que cualquier lista de “cosas dificiles” ya anticipa.</a:t>
            </a:r>
          </a:p>
          <a:p>
            <a:pPr>
              <a:lnSpc>
                <a:spcPct val="118000"/>
              </a:lnSpc>
              <a:spcAft>
                <a:spcPts val="1584"/>
              </a:spcAft>
            </a:pPr>
            <a:r>
              <a:rPr sz="1700" b="1">
                <a:solidFill>
                  <a:srgbClr val="E87A1E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Tres casos reales </a:t>
            </a:r>
            <a:r>
              <a:rPr sz="1700" b="0">
                <a:solidFill>
                  <a:srgbClr val="1F2A37"/>
                </a:solidFill>
                <a:latin typeface="Calibri"/>
              </a:rPr>
              <a:t>de bugs que solo aparecieron al correr todo de verdad, no en un test unitario.</a:t>
            </a:r>
          </a:p>
          <a:p>
            <a:pPr>
              <a:lnSpc>
                <a:spcPct val="118000"/>
              </a:lnSpc>
              <a:spcAft>
                <a:spcPts val="1584"/>
              </a:spcAft>
            </a:pPr>
            <a:r>
              <a:rPr sz="1700" b="1">
                <a:solidFill>
                  <a:srgbClr val="E87A1E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El eje que no tocamos: </a:t>
            </a:r>
            <a:r>
              <a:rPr sz="1700" b="0">
                <a:solidFill>
                  <a:srgbClr val="1F2A37"/>
                </a:solidFill>
                <a:latin typeface="Calibri"/>
              </a:rPr>
              <a:t>que hubiera costado migrar tambien la base de datos, en concreto.</a:t>
            </a:r>
          </a:p>
          <a:p>
            <a:pPr>
              <a:lnSpc>
                <a:spcPct val="118000"/>
              </a:lnSpc>
              <a:spcAft>
                <a:spcPts val="1584"/>
              </a:spcAft>
            </a:pPr>
            <a:r>
              <a:rPr sz="1700" b="1">
                <a:solidFill>
                  <a:srgbClr val="E87A1E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Por que 3 ejes no cuesta el triple </a:t>
            </a:r>
            <a:r>
              <a:rPr sz="1700" b="0">
                <a:solidFill>
                  <a:srgbClr val="1F2A37"/>
                </a:solidFill>
                <a:latin typeface="Calibri"/>
              </a:rPr>
              <a:t>sino mucho mas: las costuras crecen combinatorio.</a:t>
            </a:r>
          </a:p>
          <a:p>
            <a:pPr>
              <a:lnSpc>
                <a:spcPct val="118000"/>
              </a:lnSpc>
              <a:spcAft>
                <a:spcPts val="1584"/>
              </a:spcAft>
            </a:pPr>
            <a:r>
              <a:rPr sz="1700" b="1">
                <a:solidFill>
                  <a:srgbClr val="E87A1E"/>
                </a:solidFill>
                <a:latin typeface="Calibri"/>
              </a:rPr>
              <a:t>▸  </a:t>
            </a:r>
            <a:r>
              <a:rPr sz="1700" b="1">
                <a:solidFill>
                  <a:srgbClr val="1F2A37"/>
                </a:solidFill>
                <a:latin typeface="Calibri"/>
              </a:rPr>
              <a:t>Que decisiones nos blindaron </a:t>
            </a:r>
            <a:r>
              <a:rPr sz="1700" b="0">
                <a:solidFill>
                  <a:srgbClr val="1F2A37"/>
                </a:solidFill>
                <a:latin typeface="Calibri"/>
              </a:rPr>
              <a:t>de antemano, y el cierre.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Migracion POS Farmacia — .NET Onion → Java Hexagonal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7A1E"/>
                </a:solidFill>
                <a:latin typeface="Calibri"/>
              </a:rPr>
              <a:t>PUNTO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2A37"/>
                </a:solidFill>
                <a:latin typeface="Calibri"/>
              </a:rPr>
              <a:t>arquitectura_2_t2 no era un prototipo: ya estaba completo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4064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3429000" cy="173736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53340" cy="1737360"/>
          </a:xfrm>
          <a:prstGeom prst="rect">
            <a:avLst/>
          </a:prstGeom>
          <a:solidFill>
            <a:srgbClr val="512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121408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512BD4"/>
                </a:solidFill>
                <a:latin typeface="Calibri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61488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2A37"/>
                </a:solidFill>
                <a:latin typeface="Calibri"/>
              </a:rPr>
              <a:t>entidades de dominio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67085"/>
                </a:solidFill>
                <a:latin typeface="Calibri"/>
              </a:rPr>
              <a:t>con reglas de negocio ya implementadas y probadas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65960"/>
            <a:ext cx="3429000" cy="173736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965960"/>
            <a:ext cx="53340" cy="1737360"/>
          </a:xfrm>
          <a:prstGeom prst="rect">
            <a:avLst/>
          </a:prstGeom>
          <a:solidFill>
            <a:srgbClr val="512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121408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512BD4"/>
                </a:solidFill>
                <a:latin typeface="Calibri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61488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2A37"/>
                </a:solidFill>
                <a:latin typeface="Calibri"/>
              </a:rPr>
              <a:t>controllers 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0896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67085"/>
                </a:solidFill>
                <a:latin typeface="Calibri"/>
              </a:rPr>
              <a:t>cubriendo ventas, caja, recetas, seguros, credito, reportes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65960"/>
            <a:ext cx="3429000" cy="173736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965960"/>
            <a:ext cx="53340" cy="1737360"/>
          </a:xfrm>
          <a:prstGeom prst="rect">
            <a:avLst/>
          </a:prstGeom>
          <a:solidFill>
            <a:srgbClr val="512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2121408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512BD4"/>
                </a:solidFill>
                <a:latin typeface="Calibri"/>
              </a:rPr>
              <a:t>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761488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2A37"/>
                </a:solidFill>
                <a:latin typeface="Calibri"/>
              </a:rPr>
              <a:t>reglas de negocio (RN01-RN44)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108960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67085"/>
                </a:solidFill>
                <a:latin typeface="Calibri"/>
              </a:rPr>
              <a:t>que habia que preservar exactas, no aproximadas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500" b="1">
                <a:solidFill>
                  <a:srgbClr val="E87A1E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No se migra un esqueleto: </a:t>
            </a:r>
            <a:r>
              <a:rPr sz="1500" b="0">
                <a:solidFill>
                  <a:srgbClr val="1F2A37"/>
                </a:solidFill>
                <a:latin typeface="Calibri"/>
              </a:rPr>
              <a:t>cada entidad, endpoint y regla del .NET necesitaba un equivalente funcional en Java, no solo la forma.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500" b="1">
                <a:solidFill>
                  <a:srgbClr val="E87A1E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El frontend React se mantiene sin reescribir: </a:t>
            </a:r>
            <a:r>
              <a:rPr sz="1500" b="0">
                <a:solidFill>
                  <a:srgbClr val="1F2A37"/>
                </a:solidFill>
                <a:latin typeface="Calibri"/>
              </a:rPr>
              <a:t>esa es la unica variable que se congelo a proposito para no sumar un cuarto eje de cambio.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Migracion POS Farmacia — .NET Onion → Java Hexagonal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7A1E"/>
                </a:solidFill>
                <a:latin typeface="Calibri"/>
              </a:rPr>
              <a:t>EL MARCO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2A37"/>
                </a:solidFill>
                <a:latin typeface="Calibri"/>
              </a:rPr>
              <a:t>Tres ejes de cambio posibles — y una regla que ya existia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4064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53340" cy="105156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02535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F2A37"/>
                </a:solidFill>
                <a:latin typeface="Calibri"/>
              </a:rPr>
              <a:t>Lenguaje /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04871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67085"/>
                </a:solidFill>
                <a:latin typeface="Calibri"/>
              </a:rPr>
              <a:t>C# + .NET 10  →  Java 17 + Spring Boot 4.1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2167127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F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81160" y="2167127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46006"/>
                </a:solidFill>
                <a:latin typeface="Calibri"/>
              </a:rPr>
              <a:t>SE MOVIO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27247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127247"/>
            <a:ext cx="53340" cy="1051560"/>
          </a:xfrm>
          <a:prstGeom prst="rect">
            <a:avLst/>
          </a:prstGeom>
          <a:solidFill>
            <a:srgbClr val="6DB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255263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F2A37"/>
                </a:solidFill>
                <a:latin typeface="Calibri"/>
              </a:rPr>
              <a:t>Arquitectura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57599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67085"/>
                </a:solidFill>
                <a:latin typeface="Calibri"/>
              </a:rPr>
              <a:t>Onion (capas por convencion)  →  Hexagonal (modulos fisicos)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3419855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F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81160" y="3419855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46006"/>
                </a:solidFill>
                <a:latin typeface="Calibri"/>
              </a:rPr>
              <a:t>SE MOVIO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79975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4379975"/>
            <a:ext cx="53340" cy="1051560"/>
          </a:xfrm>
          <a:prstGeom prst="rect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507991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F2A37"/>
                </a:solidFill>
                <a:latin typeface="Calibri"/>
              </a:rPr>
              <a:t>Motor de base de datos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10327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67085"/>
                </a:solidFill>
                <a:latin typeface="Calibri"/>
              </a:rPr>
              <a:t>PostgreSQL 16  →  PostgreSQL 16 (sin cambios)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4672583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E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81160" y="4672583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6A34A"/>
                </a:solidFill>
                <a:latin typeface="Calibri"/>
              </a:rPr>
              <a:t>SE DEJO QUIETO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44068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0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57784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1" dirty="0">
                <a:solidFill>
                  <a:srgbClr val="1F2A37"/>
                </a:solidFill>
                <a:latin typeface="Calibri"/>
              </a:rPr>
              <a:t>“</a:t>
            </a:r>
            <a:r>
              <a:rPr sz="1350" b="0" i="1" dirty="0" err="1">
                <a:solidFill>
                  <a:srgbClr val="1F2A37"/>
                </a:solidFill>
                <a:latin typeface="Calibri"/>
              </a:rPr>
              <a:t>Modificar</a:t>
            </a:r>
            <a:r>
              <a:rPr sz="1350" b="0" i="1" dirty="0">
                <a:solidFill>
                  <a:srgbClr val="1F2A37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1F2A37"/>
                </a:solidFill>
                <a:latin typeface="Calibri"/>
              </a:rPr>
              <a:t>simultaneamente</a:t>
            </a:r>
            <a:r>
              <a:rPr sz="1350" b="0" i="1" dirty="0">
                <a:solidFill>
                  <a:srgbClr val="1F2A37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1F2A37"/>
                </a:solidFill>
                <a:latin typeface="Calibri"/>
              </a:rPr>
              <a:t>lenguaje</a:t>
            </a:r>
            <a:r>
              <a:rPr sz="1350" b="0" i="1" dirty="0">
                <a:solidFill>
                  <a:srgbClr val="1F2A37"/>
                </a:solidFill>
                <a:latin typeface="Calibri"/>
              </a:rPr>
              <a:t>, base de </a:t>
            </a:r>
            <a:r>
              <a:rPr sz="1350" b="0" i="1" dirty="0" err="1">
                <a:solidFill>
                  <a:srgbClr val="1F2A37"/>
                </a:solidFill>
                <a:latin typeface="Calibri"/>
              </a:rPr>
              <a:t>datos</a:t>
            </a:r>
            <a:r>
              <a:rPr sz="1350" b="0" i="1" dirty="0">
                <a:solidFill>
                  <a:srgbClr val="1F2A37"/>
                </a:solidFill>
                <a:latin typeface="Calibri"/>
              </a:rPr>
              <a:t> y frontend sin un plan gradual” </a:t>
            </a:r>
            <a:r>
              <a:rPr sz="1350" b="0" i="0" dirty="0" err="1">
                <a:solidFill>
                  <a:srgbClr val="667085"/>
                </a:solidFill>
                <a:latin typeface="Calibri"/>
              </a:rPr>
              <a:t>está</a:t>
            </a:r>
            <a:r>
              <a:rPr sz="1350" b="0" i="0" dirty="0">
                <a:solidFill>
                  <a:srgbClr val="667085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667085"/>
                </a:solidFill>
                <a:latin typeface="Calibri"/>
              </a:rPr>
              <a:t>prohibido</a:t>
            </a:r>
            <a:r>
              <a:rPr sz="1350" b="0" i="0" dirty="0">
                <a:solidFill>
                  <a:srgbClr val="667085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667085"/>
                </a:solidFill>
                <a:latin typeface="Calibri"/>
              </a:rPr>
              <a:t>explicitamente</a:t>
            </a:r>
            <a:r>
              <a:rPr sz="1350" b="0" i="0" dirty="0">
                <a:solidFill>
                  <a:srgbClr val="667085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667085"/>
                </a:solidFill>
                <a:latin typeface="Calibri"/>
              </a:rPr>
              <a:t>en</a:t>
            </a:r>
            <a:r>
              <a:rPr sz="1350" b="0" i="0" dirty="0">
                <a:solidFill>
                  <a:srgbClr val="667085"/>
                </a:solidFill>
                <a:latin typeface="Calibri"/>
              </a:rPr>
              <a:t> las </a:t>
            </a:r>
            <a:r>
              <a:rPr sz="1350" b="0" i="0" dirty="0" err="1">
                <a:solidFill>
                  <a:srgbClr val="667085"/>
                </a:solidFill>
                <a:latin typeface="Calibri"/>
              </a:rPr>
              <a:t>reglas</a:t>
            </a:r>
            <a:r>
              <a:rPr sz="1350" b="0" i="0" dirty="0">
                <a:solidFill>
                  <a:srgbClr val="667085"/>
                </a:solidFill>
                <a:latin typeface="Calibri"/>
              </a:rPr>
              <a:t> de </a:t>
            </a:r>
            <a:r>
              <a:rPr sz="1350" b="0" i="0" dirty="0" err="1">
                <a:solidFill>
                  <a:srgbClr val="667085"/>
                </a:solidFill>
                <a:latin typeface="Calibri"/>
              </a:rPr>
              <a:t>este</a:t>
            </a:r>
            <a:r>
              <a:rPr sz="1350" b="0" i="0" dirty="0">
                <a:solidFill>
                  <a:srgbClr val="667085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667085"/>
                </a:solidFill>
                <a:latin typeface="Calibri"/>
              </a:rPr>
              <a:t>proyecto</a:t>
            </a:r>
            <a:r>
              <a:rPr sz="1350" b="0" i="0" dirty="0">
                <a:solidFill>
                  <a:srgbClr val="667085"/>
                </a:solidFill>
                <a:latin typeface="Calibri"/>
              </a:rPr>
              <a:t> (CLAUDE.md). Esta </a:t>
            </a:r>
            <a:r>
              <a:rPr sz="1350" b="0" i="0" dirty="0" err="1">
                <a:solidFill>
                  <a:srgbClr val="667085"/>
                </a:solidFill>
                <a:latin typeface="Calibri"/>
              </a:rPr>
              <a:t>charla</a:t>
            </a:r>
            <a:r>
              <a:rPr sz="1350" b="0" i="0" dirty="0">
                <a:solidFill>
                  <a:srgbClr val="667085"/>
                </a:solidFill>
                <a:latin typeface="Calibri"/>
              </a:rPr>
              <a:t> es, </a:t>
            </a:r>
            <a:r>
              <a:rPr sz="1350" b="0" i="0" dirty="0" err="1">
                <a:solidFill>
                  <a:srgbClr val="667085"/>
                </a:solidFill>
                <a:latin typeface="Calibri"/>
              </a:rPr>
              <a:t>en</a:t>
            </a:r>
            <a:r>
              <a:rPr sz="1350" b="0" i="0" dirty="0">
                <a:solidFill>
                  <a:srgbClr val="667085"/>
                </a:solidFill>
                <a:latin typeface="Calibri"/>
              </a:rPr>
              <a:t> el </a:t>
            </a:r>
            <a:r>
              <a:rPr sz="1350" b="0" i="0" dirty="0" err="1">
                <a:solidFill>
                  <a:srgbClr val="667085"/>
                </a:solidFill>
                <a:latin typeface="Calibri"/>
              </a:rPr>
              <a:t>fondo</a:t>
            </a:r>
            <a:r>
              <a:rPr sz="1350" b="0" i="0" dirty="0">
                <a:solidFill>
                  <a:srgbClr val="667085"/>
                </a:solidFill>
                <a:latin typeface="Calibri"/>
              </a:rPr>
              <a:t>, la </a:t>
            </a:r>
            <a:r>
              <a:rPr sz="1350" b="0" i="0" dirty="0" err="1">
                <a:solidFill>
                  <a:srgbClr val="667085"/>
                </a:solidFill>
                <a:latin typeface="Calibri"/>
              </a:rPr>
              <a:t>prueba</a:t>
            </a:r>
            <a:r>
              <a:rPr sz="1350" b="0" i="0" dirty="0">
                <a:solidFill>
                  <a:srgbClr val="667085"/>
                </a:solidFill>
                <a:latin typeface="Calibri"/>
              </a:rPr>
              <a:t> de campo de </a:t>
            </a:r>
            <a:r>
              <a:rPr sz="1350" b="0" i="0" dirty="0" err="1">
                <a:solidFill>
                  <a:srgbClr val="667085"/>
                </a:solidFill>
                <a:latin typeface="Calibri"/>
              </a:rPr>
              <a:t>por</a:t>
            </a:r>
            <a:r>
              <a:rPr sz="1350" b="0" i="0" dirty="0">
                <a:solidFill>
                  <a:srgbClr val="667085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667085"/>
                </a:solidFill>
                <a:latin typeface="Calibri"/>
              </a:rPr>
              <a:t>qué</a:t>
            </a:r>
            <a:r>
              <a:rPr sz="1350" b="0" i="0" dirty="0">
                <a:solidFill>
                  <a:srgbClr val="667085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667085"/>
                </a:solidFill>
                <a:latin typeface="Calibri"/>
              </a:rPr>
              <a:t>esa</a:t>
            </a:r>
            <a:r>
              <a:rPr sz="1350" b="0" i="0" dirty="0">
                <a:solidFill>
                  <a:srgbClr val="667085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667085"/>
                </a:solidFill>
                <a:latin typeface="Calibri"/>
              </a:rPr>
              <a:t>regla</a:t>
            </a:r>
            <a:r>
              <a:rPr sz="1350" b="0" i="0" dirty="0">
                <a:solidFill>
                  <a:srgbClr val="667085"/>
                </a:solidFill>
                <a:latin typeface="Calibri"/>
              </a:rPr>
              <a:t> </a:t>
            </a:r>
            <a:r>
              <a:rPr sz="1350" b="0" i="0" dirty="0" err="1">
                <a:solidFill>
                  <a:srgbClr val="667085"/>
                </a:solidFill>
                <a:latin typeface="Calibri"/>
              </a:rPr>
              <a:t>existe</a:t>
            </a:r>
            <a:r>
              <a:rPr sz="1350" b="0" i="0" dirty="0">
                <a:solidFill>
                  <a:srgbClr val="667085"/>
                </a:solidFill>
                <a:latin typeface="Calibri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Migracion POS Farmacia — .NET Onion → Java Hexagonal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7A1E"/>
                </a:solidFill>
                <a:latin typeface="Calibri"/>
              </a:rPr>
              <a:t>COMPARACION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2A37"/>
                </a:solidFill>
                <a:latin typeface="Calibri"/>
              </a:rPr>
              <a:t>Por que el reacomodo de capas cuesta de verdad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4064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12BD4"/>
                </a:solidFill>
                <a:latin typeface="Calibri"/>
              </a:rPr>
              <a:t>ONION (.NET) — 1 solo proyecto compilable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94560"/>
            <a:ext cx="4846320" cy="566928"/>
          </a:xfrm>
          <a:prstGeom prst="roundRect">
            <a:avLst>
              <a:gd name="adj" fmla="val 18000"/>
            </a:avLst>
          </a:prstGeom>
          <a:solidFill>
            <a:srgbClr val="C9B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48463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1F2A37"/>
                </a:solidFill>
                <a:latin typeface="Calibri"/>
              </a:rPr>
              <a:t>Presentation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852928"/>
            <a:ext cx="4114800" cy="566928"/>
          </a:xfrm>
          <a:prstGeom prst="roundRect">
            <a:avLst>
              <a:gd name="adj" fmla="val 18000"/>
            </a:avLst>
          </a:prstGeom>
          <a:solidFill>
            <a:srgbClr val="A79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852928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3511296"/>
            <a:ext cx="3383280" cy="566928"/>
          </a:xfrm>
          <a:prstGeom prst="roundRect">
            <a:avLst>
              <a:gd name="adj" fmla="val 18000"/>
            </a:avLst>
          </a:prstGeom>
          <a:solidFill>
            <a:srgbClr val="7A5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3511296"/>
            <a:ext cx="33832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Domain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4169664"/>
            <a:ext cx="4114800" cy="566928"/>
          </a:xfrm>
          <a:prstGeom prst="roundRect">
            <a:avLst>
              <a:gd name="adj" fmla="val 18000"/>
            </a:avLst>
          </a:prstGeom>
          <a:solidFill>
            <a:srgbClr val="A79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4169664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Infrastructure (implementa interfaces internas)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90118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667085"/>
                </a:solidFill>
                <a:latin typeface="Calibri"/>
              </a:rPr>
              <a:t>Limites por convencion / namespace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7830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DB33F"/>
                </a:solidFill>
                <a:latin typeface="Calibri"/>
              </a:rPr>
              <a:t>HEXAGONAL (Java) — 6 modulos Maven separados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2880360"/>
            <a:ext cx="2377440" cy="914400"/>
          </a:xfrm>
          <a:prstGeom prst="roundRect">
            <a:avLst>
              <a:gd name="adj" fmla="val 16000"/>
            </a:avLst>
          </a:prstGeom>
          <a:solidFill>
            <a:srgbClr val="2F6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0" y="288036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DOMINIO +</a:t>
            </a:r>
          </a:p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CASOS DE USO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2148840"/>
            <a:ext cx="2103120" cy="914400"/>
          </a:xfrm>
          <a:prstGeom prst="roundRect">
            <a:avLst>
              <a:gd name="adj" fmla="val 16000"/>
            </a:avLst>
          </a:prstGeom>
          <a:solidFill>
            <a:srgbClr val="6DB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5040" y="214884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Adaptador REST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(puerto IN)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3977639"/>
            <a:ext cx="2103120" cy="914400"/>
          </a:xfrm>
          <a:prstGeom prst="roundRect">
            <a:avLst>
              <a:gd name="adj" fmla="val 16000"/>
            </a:avLst>
          </a:prstGeom>
          <a:solidFill>
            <a:srgbClr val="6DB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35040" y="3977639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Adaptador JPA/Postgres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(puerto OUT)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3977639"/>
            <a:ext cx="2103120" cy="914400"/>
          </a:xfrm>
          <a:prstGeom prst="roundRect">
            <a:avLst>
              <a:gd name="adj" fmla="val 16000"/>
            </a:avLst>
          </a:prstGeom>
          <a:solidFill>
            <a:srgbClr val="6DB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0" y="3977639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Adaptador Central/Seguros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(puerto OUT)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7589520" y="2606040"/>
            <a:ext cx="548640" cy="502920"/>
          </a:xfrm>
          <a:prstGeom prst="line">
            <a:avLst/>
          </a:prstGeom>
          <a:ln w="22225">
            <a:solidFill>
              <a:srgbClr val="B6C2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7589520" y="3566160"/>
            <a:ext cx="548640" cy="868679"/>
          </a:xfrm>
          <a:prstGeom prst="line">
            <a:avLst/>
          </a:prstGeom>
          <a:ln w="22225">
            <a:solidFill>
              <a:srgbClr val="B6C2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418320" y="3566160"/>
            <a:ext cx="548640" cy="868679"/>
          </a:xfrm>
          <a:prstGeom prst="line">
            <a:avLst/>
          </a:prstGeom>
          <a:ln w="22225">
            <a:solidFill>
              <a:srgbClr val="B6C2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35040" y="5074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667085"/>
                </a:solidFill>
                <a:latin typeface="Calibri"/>
              </a:rPr>
              <a:t>Limites fisicos, verificables por el compilador (y por ArchUnit)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Migracion POS Farmacia — .NET Onion → Java Hexagonal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7A1E"/>
                </a:solidFill>
                <a:latin typeface="Calibri"/>
              </a:rPr>
              <a:t>DISTRIBUCION DEL ESFUERZO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2A37"/>
                </a:solidFill>
                <a:latin typeface="Calibri"/>
              </a:rPr>
              <a:t>Donde cae realmente la carga de trabajo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4064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0881360" cy="1115568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53340" cy="1115568"/>
          </a:xfrm>
          <a:prstGeom prst="rect">
            <a:avLst/>
          </a:prstGeom>
          <a:solidFill>
            <a:srgbClr val="512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92808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F2A37"/>
                </a:solidFill>
                <a:latin typeface="Calibri"/>
              </a:rPr>
              <a:t>Dominio (pos-domain)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21992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512BD4"/>
                </a:solidFill>
                <a:latin typeface="Calibri"/>
              </a:rPr>
              <a:t>Alto volumen, bajo riesgo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911096"/>
            <a:ext cx="6035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80" b="0" i="0">
                <a:solidFill>
                  <a:srgbClr val="667085"/>
                </a:solidFill>
                <a:latin typeface="Calibri"/>
              </a:rPr>
              <a:t>33 entidades + 12 Value Objects + ~10 servicios de dominio puros. Mecanico pero exhaustivo: cada regla RN01-RN44 vive aqui.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26664"/>
            <a:ext cx="10881360" cy="1115568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3026664"/>
            <a:ext cx="53340" cy="1115568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13639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F2A37"/>
                </a:solidFill>
                <a:latin typeface="Calibri"/>
              </a:rPr>
              <a:t>Aplicacion (pos-application)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65576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E87A1E"/>
                </a:solidFill>
                <a:latin typeface="Calibri"/>
              </a:rPr>
              <a:t>Alto: se multiplica el numero de piezas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154680"/>
            <a:ext cx="6035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80" b="0" i="0">
                <a:solidFill>
                  <a:srgbClr val="667085"/>
                </a:solidFill>
                <a:latin typeface="Calibri"/>
              </a:rPr>
              <a:t>Onion tenia 1 interfaz de repo por entidad; Hexagonal exige separar ademas puertos IN (casos de uso) por cada intencion del usuario.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70248"/>
            <a:ext cx="10881360" cy="1115568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4270248"/>
            <a:ext cx="53340" cy="111556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379976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F2A37"/>
                </a:solidFill>
                <a:latin typeface="Calibri"/>
              </a:rPr>
              <a:t>Adaptador de persistencia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0916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DC2626"/>
                </a:solidFill>
                <a:latin typeface="Calibri"/>
              </a:rPr>
              <a:t>El mas costoso tecnicamente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398264"/>
            <a:ext cx="6035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80" b="0" i="0">
                <a:solidFill>
                  <a:srgbClr val="667085"/>
                </a:solidFill>
                <a:latin typeface="Calibri"/>
              </a:rPr>
              <a:t>27 tablas, mapeo JPA &lt;-&gt; dominio, migraciones Flyway escritas a mano, bloqueo optimista/pesimista para stock y recetas.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13832"/>
            <a:ext cx="10881360" cy="1115568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5513832"/>
            <a:ext cx="53340" cy="1115568"/>
          </a:xfrm>
          <a:prstGeom prst="rect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62356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F2A37"/>
                </a:solidFill>
                <a:latin typeface="Calibri"/>
              </a:rPr>
              <a:t>Adaptador externo (central, seguros)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952744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67085"/>
                </a:solidFill>
                <a:latin typeface="Calibri"/>
              </a:rPr>
              <a:t>Bajo en codigo, alto en incertidumbre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5641848"/>
            <a:ext cx="6035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80" b="0" i="0">
                <a:solidFill>
                  <a:srgbClr val="667085"/>
                </a:solidFill>
                <a:latin typeface="Calibri"/>
              </a:rPr>
              <a:t>Se implementan como mocks mientras no exista el contrato real — el riesgo se traslada a produccion, no se elimina.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Migracion POS Farmacia — .NET Onion → Java Hexagonal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7A1E"/>
                </a:solidFill>
                <a:latin typeface="Calibri"/>
              </a:rPr>
              <a:t>FRICCION ESPERADA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2A37"/>
                </a:solidFill>
                <a:latin typeface="Calibri"/>
              </a:rPr>
              <a:t>La que cualquier lista de “cosas dificiles” ya anticipa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4064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2016"/>
              </a:spcAft>
            </a:pPr>
            <a:r>
              <a:rPr sz="1350" b="1">
                <a:solidFill>
                  <a:srgbClr val="E87A1E"/>
                </a:solidFill>
                <a:latin typeface="Calibri"/>
              </a:rPr>
              <a:t>▸  </a:t>
            </a:r>
            <a:r>
              <a:rPr sz="1350" b="1">
                <a:solidFill>
                  <a:srgbClr val="1F2A37"/>
                </a:solidFill>
                <a:latin typeface="Calibri"/>
              </a:rPr>
              <a:t>Value Objects sin operadores. </a:t>
            </a:r>
            <a:r>
              <a:rPr sz="1350" b="0">
                <a:solidFill>
                  <a:srgbClr val="1F2A37"/>
                </a:solidFill>
                <a:latin typeface="Calibri"/>
              </a:rPr>
              <a:t>C# permite record con +/&lt;/&gt;; Java no. Cada calculo de Dinero o Cantidad se reescribe con metodos con nombre.</a:t>
            </a:r>
          </a:p>
          <a:p>
            <a:pPr>
              <a:lnSpc>
                <a:spcPct val="118000"/>
              </a:lnSpc>
              <a:spcAft>
                <a:spcPts val="2016"/>
              </a:spcAft>
            </a:pPr>
            <a:r>
              <a:rPr sz="1350" b="1">
                <a:solidFill>
                  <a:srgbClr val="E87A1E"/>
                </a:solidFill>
                <a:latin typeface="Calibri"/>
              </a:rPr>
              <a:t>▸  </a:t>
            </a:r>
            <a:r>
              <a:rPr sz="1350" b="1">
                <a:solidFill>
                  <a:srgbClr val="1F2A37"/>
                </a:solidFill>
                <a:latin typeface="Calibri"/>
              </a:rPr>
              <a:t>EF Core Migrations → Flyway a mano. </a:t>
            </a:r>
            <a:r>
              <a:rPr sz="1350" b="0">
                <a:solidFill>
                  <a:srgbClr val="1F2A37"/>
                </a:solidFill>
                <a:latin typeface="Calibri"/>
              </a:rPr>
              <a:t>.NET generaba el DDL desde las entidades; en Java hay que escribir el SQL de las ~27 tablas a mano.</a:t>
            </a:r>
          </a:p>
          <a:p>
            <a:pPr>
              <a:lnSpc>
                <a:spcPct val="118000"/>
              </a:lnSpc>
              <a:spcAft>
                <a:spcPts val="2016"/>
              </a:spcAft>
            </a:pPr>
            <a:r>
              <a:rPr sz="1350" b="1">
                <a:solidFill>
                  <a:srgbClr val="E87A1E"/>
                </a:solidFill>
                <a:latin typeface="Calibri"/>
              </a:rPr>
              <a:t>▸  </a:t>
            </a:r>
            <a:r>
              <a:rPr sz="1350" b="1">
                <a:solidFill>
                  <a:srgbClr val="1F2A37"/>
                </a:solidFill>
                <a:latin typeface="Calibri"/>
              </a:rPr>
              <a:t>Concurrencia: stock y recetas retenidas. </a:t>
            </a:r>
            <a:r>
              <a:rPr sz="1350" b="0">
                <a:solidFill>
                  <a:srgbClr val="1F2A37"/>
                </a:solidFill>
                <a:latin typeface="Calibri"/>
              </a:rPr>
              <a:t>Bloqueo optimista/pesimista en JPA no es un simple find-and-replace del código .NET.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874519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2016"/>
              </a:spcAft>
            </a:pPr>
            <a:r>
              <a:rPr sz="1350" b="1">
                <a:solidFill>
                  <a:srgbClr val="E87A1E"/>
                </a:solidFill>
                <a:latin typeface="Calibri"/>
              </a:rPr>
              <a:t>▸  </a:t>
            </a:r>
            <a:r>
              <a:rPr sz="1350" b="1">
                <a:solidFill>
                  <a:srgbClr val="1F2A37"/>
                </a:solidFill>
                <a:latin typeface="Calibri"/>
              </a:rPr>
              <a:t>Capas fisicas vs. por convencion. </a:t>
            </a:r>
            <a:r>
              <a:rPr sz="1350" b="0">
                <a:solidFill>
                  <a:srgbClr val="1F2A37"/>
                </a:solidFill>
                <a:latin typeface="Calibri"/>
              </a:rPr>
              <a:t>En Onion nada impide en la practica que alguien importe Infrastructure desde un caso de uso; en Maven modular, ese error no compila.</a:t>
            </a:r>
          </a:p>
          <a:p>
            <a:pPr>
              <a:lnSpc>
                <a:spcPct val="118000"/>
              </a:lnSpc>
              <a:spcAft>
                <a:spcPts val="2016"/>
              </a:spcAft>
            </a:pPr>
            <a:r>
              <a:rPr sz="1350" b="1">
                <a:solidFill>
                  <a:srgbClr val="E87A1E"/>
                </a:solidFill>
                <a:latin typeface="Calibri"/>
              </a:rPr>
              <a:t>▸  </a:t>
            </a:r>
            <a:r>
              <a:rPr sz="1350" b="1">
                <a:solidFill>
                  <a:srgbClr val="1F2A37"/>
                </a:solidFill>
                <a:latin typeface="Calibri"/>
              </a:rPr>
              <a:t>Enums [Flags] sin equivalente directo. </a:t>
            </a:r>
            <a:r>
              <a:rPr sz="1350" b="0">
                <a:solidFill>
                  <a:srgbClr val="1F2A37"/>
                </a:solidFill>
                <a:latin typeface="Calibri"/>
              </a:rPr>
              <a:t>PermisoEspecial pasa de bitmask a EnumSet&lt;PermisoEspecial&gt; — funciona igual, pero hay que tocar cada punto donde se usa.</a:t>
            </a:r>
          </a:p>
          <a:p>
            <a:pPr>
              <a:lnSpc>
                <a:spcPct val="118000"/>
              </a:lnSpc>
              <a:spcAft>
                <a:spcPts val="2016"/>
              </a:spcAft>
            </a:pPr>
            <a:r>
              <a:rPr sz="1350" b="1">
                <a:solidFill>
                  <a:srgbClr val="E87A1E"/>
                </a:solidFill>
                <a:latin typeface="Calibri"/>
              </a:rPr>
              <a:t>▸  </a:t>
            </a:r>
            <a:r>
              <a:rPr sz="1350" b="1">
                <a:solidFill>
                  <a:srgbClr val="1F2A37"/>
                </a:solidFill>
                <a:latin typeface="Calibri"/>
              </a:rPr>
              <a:t>Spring Security explicito. </a:t>
            </a:r>
            <a:r>
              <a:rPr sz="1350" b="0">
                <a:solidFill>
                  <a:srgbClr val="1F2A37"/>
                </a:solidFill>
                <a:latin typeface="Calibri"/>
              </a:rPr>
              <a:t>JWT, filtros y roles se configuran a mano (SecurityFilterChain) en vez del pipeline integrado de ASP.NET.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349240"/>
            <a:ext cx="10881360" cy="18288"/>
          </a:xfrm>
          <a:prstGeom prst="rect">
            <a:avLst/>
          </a:prstGeom>
          <a:solidFill>
            <a:srgbClr val="E4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53212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1">
                <a:solidFill>
                  <a:srgbClr val="1F2A37"/>
                </a:solidFill>
                <a:latin typeface="Calibri"/>
              </a:rPr>
              <a:t>Todo esto ya se sabia antes de empezar a escribir codigo. Lo que viene ahora no se sabia.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Migracion POS Farmacia — .NET Onion → Java Hexagonal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C2626"/>
                </a:solidFill>
                <a:latin typeface="Calibri"/>
              </a:rPr>
              <a:t>EL GIRO DE LA HISTORIA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74 de 74 tests unitarios en verde.</a:t>
            </a:r>
          </a:p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El reactor Maven compilaba limpio.</a:t>
            </a:r>
          </a:p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¿Listo para producción?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429000"/>
            <a:ext cx="3017520" cy="3175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98755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 dirty="0" err="1">
                <a:solidFill>
                  <a:srgbClr val="D8DEE4"/>
                </a:solidFill>
                <a:latin typeface="Calibri"/>
              </a:rPr>
              <a:t>Ningun</a:t>
            </a:r>
            <a:r>
              <a:rPr sz="1600" b="0" i="0" dirty="0">
                <a:solidFill>
                  <a:srgbClr val="D8DEE4"/>
                </a:solidFill>
                <a:latin typeface="Calibri"/>
              </a:rPr>
              <a:t> test </a:t>
            </a:r>
            <a:r>
              <a:rPr sz="1600" b="0" i="0" dirty="0" err="1">
                <a:solidFill>
                  <a:srgbClr val="D8DEE4"/>
                </a:solidFill>
                <a:latin typeface="Calibri"/>
              </a:rPr>
              <a:t>unitario</a:t>
            </a:r>
            <a:r>
              <a:rPr sz="1600" b="0" i="0" dirty="0">
                <a:solidFill>
                  <a:srgbClr val="D8DEE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D8DEE4"/>
                </a:solidFill>
                <a:latin typeface="Calibri"/>
              </a:rPr>
              <a:t>levanta</a:t>
            </a:r>
            <a:r>
              <a:rPr sz="1600" b="0" i="0" dirty="0">
                <a:solidFill>
                  <a:srgbClr val="D8DEE4"/>
                </a:solidFill>
                <a:latin typeface="Calibri"/>
              </a:rPr>
              <a:t> un </a:t>
            </a:r>
            <a:r>
              <a:rPr sz="1600" b="0" i="0" dirty="0" err="1">
                <a:solidFill>
                  <a:srgbClr val="D8DEE4"/>
                </a:solidFill>
                <a:latin typeface="Calibri"/>
              </a:rPr>
              <a:t>servidor</a:t>
            </a:r>
            <a:r>
              <a:rPr sz="1600" b="0" i="0" dirty="0">
                <a:solidFill>
                  <a:srgbClr val="D8DEE4"/>
                </a:solidFill>
                <a:latin typeface="Calibri"/>
              </a:rPr>
              <a:t> Spring real. </a:t>
            </a:r>
            <a:r>
              <a:rPr sz="1600" b="0" i="0" dirty="0" err="1">
                <a:solidFill>
                  <a:srgbClr val="D8DEE4"/>
                </a:solidFill>
                <a:latin typeface="Calibri"/>
              </a:rPr>
              <a:t>Ninguno</a:t>
            </a:r>
            <a:r>
              <a:rPr sz="1600" b="0" i="0" dirty="0">
                <a:solidFill>
                  <a:srgbClr val="D8DEE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D8DEE4"/>
                </a:solidFill>
                <a:latin typeface="Calibri"/>
              </a:rPr>
              <a:t>abre</a:t>
            </a:r>
            <a:r>
              <a:rPr sz="1600" b="0" i="0" dirty="0">
                <a:solidFill>
                  <a:srgbClr val="D8DEE4"/>
                </a:solidFill>
                <a:latin typeface="Calibri"/>
              </a:rPr>
              <a:t> un </a:t>
            </a:r>
            <a:r>
              <a:rPr sz="1600" b="0" i="0" dirty="0" err="1">
                <a:solidFill>
                  <a:srgbClr val="D8DEE4"/>
                </a:solidFill>
                <a:latin typeface="Calibri"/>
              </a:rPr>
              <a:t>navegador</a:t>
            </a:r>
            <a:r>
              <a:rPr sz="1600" b="0" i="0" dirty="0">
                <a:solidFill>
                  <a:srgbClr val="D8DEE4"/>
                </a:solidFill>
                <a:latin typeface="Calibri"/>
              </a:rPr>
              <a:t>. </a:t>
            </a:r>
            <a:r>
              <a:rPr sz="1600" b="0" i="0" dirty="0" err="1">
                <a:solidFill>
                  <a:srgbClr val="D8DEE4"/>
                </a:solidFill>
                <a:latin typeface="Calibri"/>
              </a:rPr>
              <a:t>Ninguno</a:t>
            </a:r>
            <a:r>
              <a:rPr sz="1600" b="0" i="0" dirty="0">
                <a:solidFill>
                  <a:srgbClr val="D8DEE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D8DEE4"/>
                </a:solidFill>
                <a:latin typeface="Calibri"/>
              </a:rPr>
              <a:t>prueba</a:t>
            </a:r>
            <a:r>
              <a:rPr sz="1600" b="0" i="0" dirty="0">
                <a:solidFill>
                  <a:srgbClr val="D8DEE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D8DEE4"/>
                </a:solidFill>
                <a:latin typeface="Calibri"/>
              </a:rPr>
              <a:t>que</a:t>
            </a:r>
            <a:r>
              <a:rPr sz="1600" b="0" i="0" dirty="0">
                <a:solidFill>
                  <a:srgbClr val="D8DEE4"/>
                </a:solidFill>
                <a:latin typeface="Calibri"/>
              </a:rPr>
              <a:t> dos </a:t>
            </a:r>
            <a:r>
              <a:rPr sz="1600" b="0" i="0" dirty="0" err="1">
                <a:solidFill>
                  <a:srgbClr val="D8DEE4"/>
                </a:solidFill>
                <a:latin typeface="Calibri"/>
              </a:rPr>
              <a:t>contenedores</a:t>
            </a:r>
            <a:r>
              <a:rPr sz="1600" b="0" i="0" dirty="0">
                <a:solidFill>
                  <a:srgbClr val="D8DEE4"/>
                </a:solidFill>
                <a:latin typeface="Calibri"/>
              </a:rPr>
              <a:t> Docker se </a:t>
            </a:r>
            <a:r>
              <a:rPr sz="1600" b="0" i="0" dirty="0" err="1">
                <a:solidFill>
                  <a:srgbClr val="D8DEE4"/>
                </a:solidFill>
                <a:latin typeface="Calibri"/>
              </a:rPr>
              <a:t>hablen</a:t>
            </a:r>
            <a:r>
              <a:rPr sz="1600" b="0" i="0" dirty="0">
                <a:solidFill>
                  <a:srgbClr val="D8DEE4"/>
                </a:solidFill>
                <a:latin typeface="Calibri"/>
              </a:rPr>
              <a:t> entre </a:t>
            </a:r>
            <a:r>
              <a:rPr sz="1600" b="0" i="0" dirty="0" err="1">
                <a:solidFill>
                  <a:srgbClr val="D8DEE4"/>
                </a:solidFill>
                <a:latin typeface="Calibri"/>
              </a:rPr>
              <a:t>si</a:t>
            </a:r>
            <a:r>
              <a:rPr sz="1600" b="0" i="0" dirty="0">
                <a:solidFill>
                  <a:srgbClr val="D8DEE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D8DEE4"/>
                </a:solidFill>
                <a:latin typeface="Calibri"/>
              </a:rPr>
              <a:t>por</a:t>
            </a:r>
            <a:r>
              <a:rPr sz="1600" b="0" i="0" dirty="0">
                <a:solidFill>
                  <a:srgbClr val="D8DEE4"/>
                </a:solidFill>
                <a:latin typeface="Calibri"/>
              </a:rPr>
              <a:t> la red.</a:t>
            </a:r>
            <a:endParaRPr lang="es-MX" sz="1600" b="0" i="0" dirty="0">
              <a:solidFill>
                <a:srgbClr val="D8DEE4"/>
              </a:solidFill>
              <a:latin typeface="Calibri"/>
            </a:endParaRPr>
          </a:p>
          <a:p>
            <a:pPr algn="l">
              <a:lnSpc>
                <a:spcPct val="135000"/>
              </a:lnSpc>
            </a:pPr>
            <a:endParaRPr lang="es-ES" sz="1600" b="0" i="0" dirty="0">
              <a:solidFill>
                <a:srgbClr val="D8DEE4"/>
              </a:solidFill>
              <a:latin typeface="Calibri"/>
            </a:endParaRPr>
          </a:p>
          <a:p>
            <a:pPr algn="l">
              <a:lnSpc>
                <a:spcPct val="135000"/>
              </a:lnSpc>
            </a:pPr>
            <a:r>
              <a:rPr lang="es-ES" sz="1600" b="0" i="0" dirty="0">
                <a:solidFill>
                  <a:srgbClr val="D8DEE4"/>
                </a:solidFill>
                <a:latin typeface="Calibri"/>
              </a:rPr>
              <a:t>Los tres bugs que siguen solo existieron el </a:t>
            </a:r>
            <a:r>
              <a:rPr lang="es-ES" sz="1600" b="0" i="0" dirty="0" err="1">
                <a:solidFill>
                  <a:srgbClr val="D8DEE4"/>
                </a:solidFill>
                <a:latin typeface="Calibri"/>
              </a:rPr>
              <a:t>dia</a:t>
            </a:r>
            <a:r>
              <a:rPr lang="es-ES" sz="1600" b="0" i="0" dirty="0">
                <a:solidFill>
                  <a:srgbClr val="D8DEE4"/>
                </a:solidFill>
                <a:latin typeface="Calibri"/>
              </a:rPr>
              <a:t> </a:t>
            </a:r>
            <a:r>
              <a:rPr lang="es-MX" sz="1600" b="0" i="0" dirty="0">
                <a:solidFill>
                  <a:srgbClr val="D8DEE4"/>
                </a:solidFill>
                <a:latin typeface="Calibri"/>
              </a:rPr>
              <a:t>q</a:t>
            </a:r>
            <a:r>
              <a:rPr lang="es-ES" sz="1600" b="0" i="0" dirty="0" err="1">
                <a:solidFill>
                  <a:srgbClr val="D8DEE4"/>
                </a:solidFill>
                <a:latin typeface="Calibri"/>
              </a:rPr>
              <a:t>ue</a:t>
            </a:r>
            <a:r>
              <a:rPr lang="es-ES" sz="1600" b="0" i="0" dirty="0">
                <a:solidFill>
                  <a:srgbClr val="D8DEE4"/>
                </a:solidFill>
                <a:latin typeface="Calibri"/>
              </a:rPr>
              <a:t> se </a:t>
            </a:r>
            <a:r>
              <a:rPr lang="es-ES" sz="1600" b="0" i="0" dirty="0" err="1">
                <a:solidFill>
                  <a:srgbClr val="D8DEE4"/>
                </a:solidFill>
                <a:latin typeface="Calibri"/>
              </a:rPr>
              <a:t>corrio</a:t>
            </a:r>
            <a:r>
              <a:rPr lang="es-ES" sz="1600" b="0" i="0" dirty="0">
                <a:solidFill>
                  <a:srgbClr val="D8DEE4"/>
                </a:solidFill>
                <a:latin typeface="Calibri"/>
              </a:rPr>
              <a:t> “</a:t>
            </a:r>
            <a:r>
              <a:rPr lang="es-ES" sz="1600" b="0" i="0" dirty="0" err="1">
                <a:solidFill>
                  <a:srgbClr val="D8DEE4"/>
                </a:solidFill>
                <a:latin typeface="Calibri"/>
              </a:rPr>
              <a:t>docker</a:t>
            </a:r>
            <a:r>
              <a:rPr lang="es-ES" sz="1600" b="0" i="0" dirty="0">
                <a:solidFill>
                  <a:srgbClr val="D8DEE4"/>
                </a:solidFill>
                <a:latin typeface="Calibri"/>
              </a:rPr>
              <a:t> </a:t>
            </a:r>
            <a:r>
              <a:rPr lang="es-ES" sz="1600" b="0" i="0" dirty="0" err="1">
                <a:solidFill>
                  <a:srgbClr val="D8DEE4"/>
                </a:solidFill>
                <a:latin typeface="Calibri"/>
              </a:rPr>
              <a:t>compose</a:t>
            </a:r>
            <a:r>
              <a:rPr lang="es-ES" sz="1600" b="0" i="0" dirty="0">
                <a:solidFill>
                  <a:srgbClr val="D8DEE4"/>
                </a:solidFill>
                <a:latin typeface="Calibri"/>
              </a:rPr>
              <a:t> up” de verdad y se hizo login desde el navegador — exactamente el mismo </a:t>
            </a:r>
            <a:r>
              <a:rPr lang="es-ES" sz="1600" b="0" i="0" dirty="0" err="1">
                <a:solidFill>
                  <a:srgbClr val="D8DEE4"/>
                </a:solidFill>
                <a:latin typeface="Calibri"/>
              </a:rPr>
              <a:t>dia</a:t>
            </a:r>
            <a:r>
              <a:rPr lang="es-ES" sz="1600" b="0" i="0" dirty="0">
                <a:solidFill>
                  <a:srgbClr val="D8DEE4"/>
                </a:solidFill>
                <a:latin typeface="Calibri"/>
              </a:rPr>
              <a:t> de esta </a:t>
            </a:r>
            <a:r>
              <a:rPr lang="es-ES" sz="1600" b="0" i="0" dirty="0" err="1">
                <a:solidFill>
                  <a:srgbClr val="D8DEE4"/>
                </a:solidFill>
                <a:latin typeface="Calibri"/>
              </a:rPr>
              <a:t>sesion</a:t>
            </a:r>
            <a:r>
              <a:rPr lang="es-ES" sz="1600" b="0" i="0" dirty="0">
                <a:solidFill>
                  <a:srgbClr val="D8DEE4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Migracion POS Farmacia — .NET Onion → Java Hexagonal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C2626"/>
                </a:solidFill>
                <a:latin typeface="Calibri"/>
              </a:rPr>
              <a:t>CASO REAL 1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2A37"/>
                </a:solidFill>
                <a:latin typeface="Calibri"/>
              </a:rPr>
              <a:t>La casa con todos los cuartos pero sin puertas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406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0881360" cy="1078992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340" cy="10789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C2626"/>
                </a:solidFill>
                <a:latin typeface="Calibri"/>
              </a:rPr>
              <a:t>EL SINTOMA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1F2A37"/>
                </a:solidFill>
                <a:latin typeface="Calibri"/>
              </a:rPr>
              <a:t>Promociones y Clientes/Seguros/Credito tenían controllers, casos de uso y adaptadores de persistencia completos — pero la aplicación Spring jamás hubiera podido arrancar.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54096"/>
            <a:ext cx="10881360" cy="1078992"/>
          </a:xfrm>
          <a:prstGeom prst="roundRect">
            <a:avLst>
              <a:gd name="adj" fmla="val 10000"/>
            </a:avLst>
          </a:prstGeom>
          <a:solidFill>
            <a:srgbClr val="F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3054096"/>
            <a:ext cx="53340" cy="1078992"/>
          </a:xfrm>
          <a:prstGeom prst="rect">
            <a:avLst/>
          </a:prstGeom>
          <a:solidFill>
            <a:srgbClr val="B46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14553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46006"/>
                </a:solidFill>
                <a:latin typeface="Calibri"/>
              </a:rPr>
              <a:t>LA CAUSA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01568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1F2A37"/>
                </a:solidFill>
                <a:latin typeface="Calibri"/>
              </a:rPr>
              <a:t>No existía ninguna clase @Configuration que cablee esos 15 casos de uso como @Bean. Un @Bean con un parámetro sin implementación registrada COMPILA bien — Spring recien resuelve la inyección en tiempo de ejecución, no en compilación.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79392"/>
            <a:ext cx="10881360" cy="1078992"/>
          </a:xfrm>
          <a:prstGeom prst="roundRect">
            <a:avLst>
              <a:gd name="adj" fmla="val 10000"/>
            </a:avLst>
          </a:prstGeom>
          <a:solidFill>
            <a:srgbClr val="E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4279392"/>
            <a:ext cx="53340" cy="10789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3708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6A34A"/>
                </a:solidFill>
                <a:latin typeface="Calibri"/>
              </a:rPr>
              <a:t>LA SOLUCION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26864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1F2A37"/>
                </a:solidFill>
                <a:latin typeface="Calibri"/>
              </a:rPr>
              <a:t>Se creo PromocionUseCaseConfiguration y ClienteSeguroCreditoUseCaseConfiguration, y se verificó con un cruce sistemático que ninguna otra interfaz UseCase quedaba sin su @Bean.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5040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1">
                <a:solidFill>
                  <a:srgbClr val="667085"/>
                </a:solidFill>
                <a:latin typeface="Calibri"/>
              </a:rPr>
              <a:t>“Compila” y “funciona” son promesas distintas en Hexagonal: el compilador solo vigila los puertos, nunca revisa si alguien conectó el cable del otro lado.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Migracion POS Farmacia — .NET Onion → Java Hexagonal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C2626"/>
                </a:solidFill>
                <a:latin typeface="Calibri"/>
              </a:rPr>
              <a:t>CASO REAL 2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2A37"/>
                </a:solidFill>
                <a:latin typeface="Calibri"/>
              </a:rPr>
              <a:t>El piso se movio mientras caminabamos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406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0881360" cy="1078992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340" cy="10789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C2626"/>
                </a:solidFill>
                <a:latin typeface="Calibri"/>
              </a:rPr>
              <a:t>EL SINTOMA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1F2A37"/>
                </a:solidFill>
                <a:latin typeface="Calibri"/>
              </a:rPr>
              <a:t>La aplicación fallaba al arrancar con SchemaManagementException: missing table [...] — como si las 8 migraciones de base de datos nunca hubieran existido.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54096"/>
            <a:ext cx="10881360" cy="1078992"/>
          </a:xfrm>
          <a:prstGeom prst="roundRect">
            <a:avLst>
              <a:gd name="adj" fmla="val 10000"/>
            </a:avLst>
          </a:prstGeom>
          <a:solidFill>
            <a:srgbClr val="F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3054096"/>
            <a:ext cx="53340" cy="1078992"/>
          </a:xfrm>
          <a:prstGeom prst="rect">
            <a:avLst/>
          </a:prstGeom>
          <a:solidFill>
            <a:srgbClr val="B46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14553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46006"/>
                </a:solidFill>
                <a:latin typeface="Calibri"/>
              </a:rPr>
              <a:t>LA CAUSA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01568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1F2A37"/>
                </a:solidFill>
                <a:latin typeface="Calibri"/>
              </a:rPr>
              <a:t>Spring Boot 4.x dejó de auto-configurar Flyway solo por tener flyway-core en el classpath: modularizó la autoconfiguración y ahora exige el starter explícito spring-boot-starter-flyway. flyway-core compilaba perfecto — el proyecto simplemente no sabía que ya no bastaba.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79392"/>
            <a:ext cx="10881360" cy="1078992"/>
          </a:xfrm>
          <a:prstGeom prst="roundRect">
            <a:avLst>
              <a:gd name="adj" fmla="val 10000"/>
            </a:avLst>
          </a:prstGeom>
          <a:solidFill>
            <a:srgbClr val="E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4279392"/>
            <a:ext cx="53340" cy="10789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3708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6A34A"/>
                </a:solidFill>
                <a:latin typeface="Calibri"/>
              </a:rPr>
              <a:t>LA SOLUCION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26864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1F2A37"/>
                </a:solidFill>
                <a:latin typeface="Calibri"/>
              </a:rPr>
              <a:t>Se reemplazó la dependencia directa flyway-core por spring-boot-starter-flyway en el POM del adaptador de persistencia. Una linea de cambio, cero líneas de código Java.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5040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1">
                <a:solidFill>
                  <a:srgbClr val="667085"/>
                </a:solidFill>
                <a:latin typeface="Calibri"/>
              </a:rPr>
              <a:t>No es un error de quien migró: es el framework cambiando las reglas de auto-configuración en su propia versión mayor, mientras el proyecto se armaba encima.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Migracion POS Farmacia — .NET Onion → Java Hexagonal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C2626"/>
                </a:solidFill>
                <a:latin typeface="Calibri"/>
              </a:rPr>
              <a:t>CASO REAL 3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2A37"/>
                </a:solidFill>
                <a:latin typeface="Calibri"/>
              </a:rPr>
              <a:t>El bug que solo Postgres sabia esconder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406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0881360" cy="1078992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340" cy="10789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C2626"/>
                </a:solidFill>
                <a:latin typeface="Calibri"/>
              </a:rPr>
              <a:t>EL SINTOMA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76272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1F2A37"/>
                </a:solidFill>
                <a:latin typeface="Calibri"/>
              </a:rPr>
              <a:t>GET /api/productos devolvia error 500 con: function lower(bytea) does not exist — justo el caso mas común, buscar sin escribir texto de filtro.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54096"/>
            <a:ext cx="10881360" cy="1078992"/>
          </a:xfrm>
          <a:prstGeom prst="roundRect">
            <a:avLst>
              <a:gd name="adj" fmla="val 10000"/>
            </a:avLst>
          </a:prstGeom>
          <a:solidFill>
            <a:srgbClr val="F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3054096"/>
            <a:ext cx="53340" cy="1078992"/>
          </a:xfrm>
          <a:prstGeom prst="rect">
            <a:avLst/>
          </a:prstGeom>
          <a:solidFill>
            <a:srgbClr val="B460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14553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46006"/>
                </a:solidFill>
                <a:latin typeface="Calibri"/>
              </a:rPr>
              <a:t>LA CAUSA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01568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1F2A37"/>
                </a:solidFill>
                <a:latin typeface="Calibri"/>
              </a:rPr>
              <a:t>La consulta armaba el patron con lower(concat('%', :texto, '%')). Cuando :texto llega null, el driver JDBC de PostgreSQL no puede inferir su tipo dentro de concat()/lower() y lo tipa como bytea — y lower(bytea) no existe en Postgres.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79392"/>
            <a:ext cx="10881360" cy="1078992"/>
          </a:xfrm>
          <a:prstGeom prst="roundRect">
            <a:avLst>
              <a:gd name="adj" fmla="val 10000"/>
            </a:avLst>
          </a:prstGeom>
          <a:solidFill>
            <a:srgbClr val="E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4279392"/>
            <a:ext cx="53340" cy="107899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3708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6A34A"/>
                </a:solidFill>
                <a:latin typeface="Calibri"/>
              </a:rPr>
              <a:t>LA SOLUCION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26864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1F2A37"/>
                </a:solidFill>
                <a:latin typeface="Calibri"/>
              </a:rPr>
              <a:t>Se armó el patrón %texto% ya en minúsculas en Java, y se pasó como un unico parámetro de texto usado directo en LIKE, sin concat()/lower() en SQL.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5040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1">
                <a:solidFill>
                  <a:srgbClr val="667085"/>
                </a:solidFill>
                <a:latin typeface="Calibri"/>
              </a:rPr>
              <a:t>Este bug es especifico de Postgres: con otro motor de base de datos ni siquiera hubiera aparecido — hubiera aparecido OTRO, distinto e igual de impredecible.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Migracion POS Farmacia — .NET Onion → Java Hexagonal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7A1E"/>
                </a:solidFill>
                <a:latin typeface="Calibri"/>
              </a:rPr>
              <a:t>Y LAS COSTURAS MAS CHICAS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2A37"/>
                </a:solidFill>
                <a:latin typeface="Calibri"/>
              </a:rPr>
              <a:t>Mas rapidas de arreglar, igual de invisibles hasta probarlas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4064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0881360" cy="16002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3340" cy="1600200"/>
          </a:xfrm>
          <a:prstGeom prst="rect">
            <a:avLst/>
          </a:prstGeom>
          <a:solidFill>
            <a:srgbClr val="512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F2A37"/>
                </a:solidFill>
                <a:latin typeface="Calibri"/>
              </a:rPr>
              <a:t>Sin CORS configurado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42032"/>
            <a:ext cx="10149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7085"/>
                </a:solidFill>
                <a:latin typeface="Calibri"/>
              </a:rPr>
              <a:t>El frontend (localhost:5173) y el backend (localhost:8088) son origenes distintos; sin CORS el navegador bloquea todo fetch con preflight fallido. El .NET original si lo tenia (Program.cs).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49040"/>
            <a:ext cx="10881360" cy="160020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3749040"/>
            <a:ext cx="53340" cy="16002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9319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F2A37"/>
                </a:solidFill>
                <a:latin typeface="Calibri"/>
              </a:rPr>
              <a:t>Rutas /api/v1/... vs /api/...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70832"/>
            <a:ext cx="10149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7085"/>
                </a:solidFill>
                <a:latin typeface="Calibri"/>
              </a:rPr>
              <a:t>5 de 8 contextos se implementaron con el prefijo minimo del Word (/api/v1/...), pero el frontend real llama /api/... sin version — 5 agentes de reconciliacion tuvieron que corregirlo despues.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2356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1">
                <a:solidFill>
                  <a:srgbClr val="667085"/>
                </a:solidFill>
                <a:latin typeface="Calibri"/>
              </a:rPr>
              <a:t>Ninguno de los dos rompia un test unitario. Los dos rompian el primer clic real en el navegador.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Migracion POS Farmacia — .NET Onion → Java Hexagonal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7A1E"/>
                </a:solidFill>
                <a:latin typeface="Calibri"/>
              </a:rPr>
              <a:t>EL EJE QUE NO TOCAMOS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2A37"/>
                </a:solidFill>
                <a:latin typeface="Calibri"/>
              </a:rPr>
              <a:t>¿Y si tambien migrabamos de PostgreSQL a SQL Server?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4064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667085"/>
                </a:solidFill>
                <a:latin typeface="Calibri"/>
              </a:rPr>
              <a:t>El Word original sugeria SQL Server. El proyecto lo descarto a proposito. Esto es lo que hubiera costado, en concreto: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53340" cy="914400"/>
          </a:xfrm>
          <a:prstGeom prst="rect">
            <a:avLst/>
          </a:prstGeom>
          <a:solidFill>
            <a:srgbClr val="512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10332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 dirty="0">
                <a:solidFill>
                  <a:srgbClr val="1F2A37"/>
                </a:solidFill>
                <a:latin typeface="Calibri"/>
              </a:rPr>
              <a:t>Las 9 </a:t>
            </a:r>
            <a:r>
              <a:rPr sz="1350" b="1" i="0" dirty="0" err="1">
                <a:solidFill>
                  <a:srgbClr val="1F2A37"/>
                </a:solidFill>
                <a:latin typeface="Calibri"/>
              </a:rPr>
              <a:t>migraciones</a:t>
            </a:r>
            <a:r>
              <a:rPr sz="1350" b="1" i="0" dirty="0">
                <a:solidFill>
                  <a:srgbClr val="1F2A37"/>
                </a:solidFill>
                <a:latin typeface="Calibri"/>
              </a:rPr>
              <a:t> Flyway, </a:t>
            </a:r>
            <a:r>
              <a:rPr sz="1350" b="1" i="0" dirty="0" err="1">
                <a:solidFill>
                  <a:srgbClr val="1F2A37"/>
                </a:solidFill>
                <a:latin typeface="Calibri"/>
              </a:rPr>
              <a:t>reescritas</a:t>
            </a:r>
            <a:r>
              <a:rPr sz="1350" b="1" i="0" dirty="0">
                <a:solidFill>
                  <a:srgbClr val="1F2A37"/>
                </a:solidFill>
                <a:latin typeface="Calibri"/>
              </a:rPr>
              <a:t> de cero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34056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30" b="0" i="0">
                <a:solidFill>
                  <a:srgbClr val="667085"/>
                </a:solidFill>
                <a:latin typeface="Calibri"/>
              </a:rPr>
              <a:t>UUID nativo vs UNIQUEIDENTIFIER, BOOLEAN vs BIT, LIMIT/OFFSET vs TOP/OFFSET-FETCH, RETURNING vs OUTPUT.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64992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3364992"/>
            <a:ext cx="53340" cy="914400"/>
          </a:xfrm>
          <a:prstGeom prst="rect">
            <a:avLst/>
          </a:prstGeom>
          <a:solidFill>
            <a:srgbClr val="512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456432"/>
            <a:ext cx="10332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2A37"/>
                </a:solidFill>
                <a:latin typeface="Calibri"/>
              </a:rPr>
              <a:t>El dialecto de Hibernate cambia entero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67328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30" b="0" i="0">
                <a:solidFill>
                  <a:srgbClr val="667085"/>
                </a:solidFill>
                <a:latin typeface="Calibri"/>
              </a:rPr>
              <a:t>PostgreSQLDialect → SQLServerDialect. Ya vimos hoy que el modo validate es estricto: cualquier diferencia sutil de tipos rompe el arranque.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98264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4398264"/>
            <a:ext cx="53340" cy="914400"/>
          </a:xfrm>
          <a:prstGeom prst="rect">
            <a:avLst/>
          </a:prstGeom>
          <a:solidFill>
            <a:srgbClr val="512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489704"/>
            <a:ext cx="10332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2A37"/>
                </a:solidFill>
                <a:latin typeface="Calibri"/>
              </a:rPr>
              <a:t>La concurrencia se escribe distinto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006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30" b="0" i="0">
                <a:solidFill>
                  <a:srgbClr val="667085"/>
                </a:solidFill>
                <a:latin typeface="Calibri"/>
              </a:rPr>
              <a:t>SELECT FOR UPDATE (Postgres) vs WITH (UPDLOCK, ROWLOCK) (SQL Server) — justo la sintaxis que protege el stock y las recetas retenidas.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31536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5431536"/>
            <a:ext cx="53340" cy="914400"/>
          </a:xfrm>
          <a:prstGeom prst="rect">
            <a:avLst/>
          </a:prstGeom>
          <a:solidFill>
            <a:srgbClr val="512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522976"/>
            <a:ext cx="10332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F2A37"/>
                </a:solidFill>
                <a:latin typeface="Calibri"/>
              </a:rPr>
              <a:t>El bug de hoy no desaparece, cambia de forma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83387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30" b="0" i="0">
                <a:solidFill>
                  <a:srgbClr val="667085"/>
                </a:solidFill>
                <a:latin typeface="Calibri"/>
              </a:rPr>
              <a:t>lower(bytea) es un bug de Postgres. SQL Server es case-insensitive por default en muchas collations — ahi el riesgo hubiera sido el opuesto: falsos positivos en busquedas.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Migracion POS Farmacia — .NET Onion → Java Hexagonal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7A1E"/>
                </a:solidFill>
                <a:latin typeface="Calibri"/>
              </a:rPr>
              <a:t>POR QUE NO CUESTA EL TRIPLE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2A37"/>
                </a:solidFill>
                <a:latin typeface="Calibri"/>
              </a:rPr>
              <a:t>Los bugs viven en las costuras, y las costuras crecen combinatorio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4064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H="1">
            <a:off x="3154680" y="2194559"/>
            <a:ext cx="2788920" cy="2834640"/>
          </a:xfrm>
          <a:prstGeom prst="line">
            <a:avLst/>
          </a:prstGeom>
          <a:ln w="28575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43600" y="2194559"/>
            <a:ext cx="2788920" cy="2834640"/>
          </a:xfrm>
          <a:prstGeom prst="line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154680" y="5029199"/>
            <a:ext cx="5577840" cy="0"/>
          </a:xfrm>
          <a:prstGeom prst="line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800600" y="1805939"/>
            <a:ext cx="2286000" cy="777240"/>
          </a:xfrm>
          <a:prstGeom prst="ellipse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0600" y="1805939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LENGUAJE /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FRAMEWORK</a:t>
            </a:r>
          </a:p>
        </p:txBody>
      </p:sp>
      <p:sp>
        <p:nvSpPr>
          <p:cNvPr id="11" name="Oval 10"/>
          <p:cNvSpPr/>
          <p:nvPr/>
        </p:nvSpPr>
        <p:spPr>
          <a:xfrm>
            <a:off x="2011680" y="4640579"/>
            <a:ext cx="2286000" cy="777240"/>
          </a:xfrm>
          <a:prstGeom prst="ellipse">
            <a:avLst/>
          </a:prstGeom>
          <a:solidFill>
            <a:srgbClr val="6DB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11680" y="4640579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ARQUITECTURA</a:t>
            </a:r>
          </a:p>
        </p:txBody>
      </p:sp>
      <p:sp>
        <p:nvSpPr>
          <p:cNvPr id="13" name="Oval 12"/>
          <p:cNvSpPr/>
          <p:nvPr/>
        </p:nvSpPr>
        <p:spPr>
          <a:xfrm>
            <a:off x="7589520" y="4640579"/>
            <a:ext cx="2286000" cy="777240"/>
          </a:xfrm>
          <a:prstGeom prst="ellipse">
            <a:avLst/>
          </a:prstGeom>
          <a:solidFill>
            <a:srgbClr val="667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0" y="4640579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BASE DE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DATOS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05940" y="3355847"/>
            <a:ext cx="2377440" cy="51206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05940" y="3355847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DC2626"/>
                </a:solidFill>
                <a:latin typeface="Calibri"/>
              </a:rPr>
              <a:t>3 BUGS REALES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DC2626"/>
                </a:solidFill>
                <a:latin typeface="Calibri"/>
              </a:rPr>
              <a:t>(los 3 casos)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49540" y="3035807"/>
            <a:ext cx="2377440" cy="51206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667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49540" y="3035807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667085"/>
                </a:solidFill>
                <a:latin typeface="Calibri"/>
              </a:rPr>
              <a:t>hipotetico: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667085"/>
                </a:solidFill>
                <a:latin typeface="Calibri"/>
              </a:rPr>
              <a:t>dialecto + driver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5276087"/>
            <a:ext cx="2377440" cy="51206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667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0" y="5276087"/>
            <a:ext cx="23774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667085"/>
                </a:solidFill>
                <a:latin typeface="Calibri"/>
              </a:rPr>
              <a:t>hipotetico: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667085"/>
                </a:solidFill>
                <a:latin typeface="Calibri"/>
              </a:rPr>
              <a:t>locking + Testcontainers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8932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1">
                <a:solidFill>
                  <a:srgbClr val="1F2A37"/>
                </a:solidFill>
                <a:latin typeface="Calibri"/>
              </a:rPr>
              <a:t>Con 2 ejes moviendose hay 1 costura (y ya dio 3 bugs). Con 3 ejes hay 3 costuras — el riesgo no suma, multiplica.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Migracion POS Farmacia — .NET Onion → Java Hexagonal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7A1E"/>
                </a:solidFill>
                <a:latin typeface="Calibri"/>
              </a:rPr>
              <a:t>QUE NOS BLINDO DE ANTEMANO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2A37"/>
                </a:solidFill>
                <a:latin typeface="Calibri"/>
              </a:rPr>
              <a:t>Decisiones que ya pagaban este riesgo antes de que apareciera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640080" cy="4064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2304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IDs generados en el dominio, no en la base de datos. </a:t>
            </a:r>
            <a:r>
              <a:rPr sz="1500" b="0">
                <a:solidFill>
                  <a:srgbClr val="1F2A37"/>
                </a:solidFill>
                <a:latin typeface="Calibri"/>
              </a:rPr>
              <a:t>Cada entidad hereda de Entidad y genera su propio UUID en Java. Si algun dia cambia el motor de BD, la identidad de cada fila no depende de como ese motor genera claves.</a:t>
            </a:r>
          </a:p>
          <a:p>
            <a:pPr>
              <a:lnSpc>
                <a:spcPct val="118000"/>
              </a:lnSpc>
              <a:spcAft>
                <a:spcPts val="2304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Puertos y adaptadores explicitos desde el dia uno. </a:t>
            </a:r>
            <a:r>
              <a:rPr sz="1500" b="0">
                <a:solidFill>
                  <a:srgbClr val="1F2A37"/>
                </a:solidFill>
                <a:latin typeface="Calibri"/>
              </a:rPr>
              <a:t>Los casos de uso nunca conocen JPA ni Postgres directamente — solo interfaces. El bug de lower(bytea) se arreglo en UN adaptador, sin tocar dominio ni aplicacion.</a:t>
            </a:r>
          </a:p>
          <a:p>
            <a:pPr>
              <a:lnSpc>
                <a:spcPct val="118000"/>
              </a:lnSpc>
              <a:spcAft>
                <a:spcPts val="2304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Mantener PostgreSQL en vez de saltar a SQL Server. </a:t>
            </a:r>
            <a:r>
              <a:rPr sz="1500" b="0">
                <a:solidFill>
                  <a:srgbClr val="1F2A37"/>
                </a:solidFill>
                <a:latin typeface="Calibri"/>
              </a:rPr>
              <a:t>La decision documentada en CLAUDE.md de no tocar el motor de BD a la vez que el lenguaje evito que los 3 casos reales de esta charla fueran 6, 9, o mas.</a:t>
            </a:r>
          </a:p>
          <a:p>
            <a:pPr>
              <a:lnSpc>
                <a:spcPct val="118000"/>
              </a:lnSpc>
              <a:spcAft>
                <a:spcPts val="2304"/>
              </a:spcAft>
            </a:pPr>
            <a:r>
              <a:rPr sz="1500" b="1">
                <a:solidFill>
                  <a:srgbClr val="16A34A"/>
                </a:solidFill>
                <a:latin typeface="Calibri"/>
              </a:rPr>
              <a:t>▸  </a:t>
            </a:r>
            <a:r>
              <a:rPr sz="1500" b="1">
                <a:solidFill>
                  <a:srgbClr val="1F2A37"/>
                </a:solidFill>
                <a:latin typeface="Calibri"/>
              </a:rPr>
              <a:t>No reescribir el frontend React. </a:t>
            </a:r>
            <a:r>
              <a:rPr sz="1500" b="0">
                <a:solidFill>
                  <a:srgbClr val="1F2A37"/>
                </a:solidFill>
                <a:latin typeface="Calibri"/>
              </a:rPr>
              <a:t>Congelar ese cuarto eje de cambio dejo una sola fuente de verdad del contrato REST real contra la cual verificar cada ruta.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Migracion POS Farmacia — .NET Onion → Java Hexagonal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DB33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La mayor carga nunca fue “aprender Java”.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D8DEE4"/>
                </a:solidFill>
                <a:latin typeface="Calibri"/>
              </a:rPr>
              <a:t>Fue sostener 44 reglas de negocio finas y un contrato REST real, mientras se reordenaba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D8DEE4"/>
                </a:solidFill>
                <a:latin typeface="Calibri"/>
              </a:rPr>
              <a:t>la arquitectura entera por debajo — y el framework tampoco se quedaba quieto.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429000"/>
            <a:ext cx="3383280" cy="2148840"/>
          </a:xfrm>
          <a:prstGeom prst="roundRect">
            <a:avLst>
              <a:gd name="adj" fmla="val 10000"/>
            </a:avLst>
          </a:prstGeom>
          <a:solidFill>
            <a:srgbClr val="273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3429000"/>
            <a:ext cx="3383280" cy="5334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3639312"/>
            <a:ext cx="287121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Mayor carga de trabajo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160520"/>
            <a:ext cx="2871216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C7CED6"/>
                </a:solidFill>
                <a:latin typeface="Calibri"/>
              </a:rPr>
              <a:t>el adaptador de persistencia (JPA + Flyway + concurrencia) y la multiplicacion de puertos propia de Hexagonal.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429000"/>
            <a:ext cx="3383280" cy="2148840"/>
          </a:xfrm>
          <a:prstGeom prst="roundRect">
            <a:avLst>
              <a:gd name="adj" fmla="val 10000"/>
            </a:avLst>
          </a:prstGeom>
          <a:solidFill>
            <a:srgbClr val="273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3429000"/>
            <a:ext cx="3383280" cy="533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3639312"/>
            <a:ext cx="287121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Mayor riesgo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4160520"/>
            <a:ext cx="2871216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C7CED6"/>
                </a:solidFill>
                <a:latin typeface="Calibri"/>
              </a:rPr>
              <a:t>las costuras entre ejes: exactamente donde vivieron los 3 bugs reales de esta charla.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3429000"/>
            <a:ext cx="3383280" cy="2148840"/>
          </a:xfrm>
          <a:prstGeom prst="roundRect">
            <a:avLst>
              <a:gd name="adj" fmla="val 10000"/>
            </a:avLst>
          </a:prstGeom>
          <a:solidFill>
            <a:srgbClr val="273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55280" y="3429000"/>
            <a:ext cx="3383280" cy="53340"/>
          </a:xfrm>
          <a:prstGeom prst="rect">
            <a:avLst/>
          </a:prstGeom>
          <a:solidFill>
            <a:srgbClr val="6DB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11312" y="3639312"/>
            <a:ext cx="287121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Mayor beneficio a cambio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4160520"/>
            <a:ext cx="2871216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C7CED6"/>
                </a:solidFill>
                <a:latin typeface="Calibri"/>
              </a:rPr>
              <a:t>limites de capa verificables por el compilador — el error de arquitectura ahora no compila.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Migracion POS Farmacia — .NET Onion → Java Hexagonal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7085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2250</Words>
  <Application>Microsoft Office PowerPoint</Application>
  <PresentationFormat>Panorámica</PresentationFormat>
  <Paragraphs>197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Javier Geronimo</cp:lastModifiedBy>
  <cp:revision>3</cp:revision>
  <dcterms:created xsi:type="dcterms:W3CDTF">2013-01-27T09:14:16Z</dcterms:created>
  <dcterms:modified xsi:type="dcterms:W3CDTF">2026-07-28T19:41:05Z</dcterms:modified>
  <cp:category/>
</cp:coreProperties>
</file>